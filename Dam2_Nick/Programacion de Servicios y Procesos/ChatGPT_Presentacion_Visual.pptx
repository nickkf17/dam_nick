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Somos [nombres] y nos ha tocado analizar ChatGPT. Vamos a responder qué ocurre desde que pulsamos Enviar hasta que aparece la respuesta. Adelantamos la conclusión: no ocurre nada en nuestro ordenador.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ChatGPT es el producto (web y app); GPT es la familia de modelos que hay detrás. Lo desarrolla OpenAI, público desde noviembre de 2022, sobre centros de datos de Microsoft Azure. Es un gran modelo de lenguaje con arquitectura Transformer: está entrenado para predecir el siguiente token. Es multimodal.
Argumento de la imagen: el modelo tiene cientos de miles de millones de parámetros, o sea cientos de GB que hay que tener cargados en memoria para calcular. No cabe en la RAM de un portátil ni en una gráfica doméstica. Por eso el cálculo está centralizado.
Si preguntan: sí existen modelos pequeños de código abierto que se ejecutan en local, pero ChatGPT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Usuario: escribes y pulsas Enviar; el cliente solo coge tu texto.
2 Internet: petición HTTPS, pasa por una CDN para conectar con un punto cercano.
3 Balanceador de carga: elige a qué servidor mandarla. La API comprueba sesión y límites de uso; la petición entra en una cola.
4 Tokenización: el texto se trocea en tokens y se convierte en números; se añade el historial, porque el modelo no recuerda nada entre turnos.
5 Modelo en GPUs: prefill (lee todo el prompt de golpe, muy paralelizable) y decode (genera un token cada vez, inevitablemente secuencial).
6 Streaming: los tokens vuelven según se generan; por eso ves la respuesta escribirse.
FRASE CLAVE: no es un único envío de ida y vuelta, los pasos 5 y 6 se repiten en bucle cientos de veces.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Proceso: programa en ejecución con su propio espacio de memoria, aislado. Si falla no arrastra a los demás, pero comunicarse cuesta más.
Hilo: línea de ejecución dentro de un proceso; comparten memoria, así que comunicarse es inmediato y cambiar entre ellos es barato, pero si uno corrompe memoria afecta a todos.
Procesos en ChatGPT (normalmente en máquinas distintas): servidor web/API, moderación, motor de inferencia, base de datos del historial.
Hilos dentro del motor: mantener la conexión y enviar tokens, tokenizar, copiar datos a la memoria de la GPU, decidir qué peticiones entran en el siguiente lote, registrar métricas.
MATIZ QUE DA NOTA: lo intuitivo sería un hilo por usuario, pero no escala (memoria de pila y demasiados cambios de contexto). Se usa entrada/salida asíncrona: pocos hilos gestionan muchísimas conexiones, porque una conexión que espera no necesita un hilo esperando con ella.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Concurrencia: varias tareas EN MARCHA a la vez, aunque en cada instante solo se ejecute una. Es organización: se intercalan, y mientras una espera a la red o al disco se atiende otra.
Paralelismo: varias operaciones ejecutándose REALMENTE a la vez en unidades distintas. Es hardware: sin varios núcleos no hay paralelismo.
ANALOGÍA: concurrencia es un camarero solo llevando cinco mesas; paralelismo son cinco camareros. ChatGPT son cinco camareros con veinte mesas: las dos cosas.
10.000 usuarios a la vez: concurrencia para organizar las peticiones (unas llegando, otras en cola, otras generando) y paralelismo para el cálculo, que son multiplicaciones de matrices repartidas entre miles de núcleos.
BATCHING: el servidor mete peticiones de usuarios distintos en un mismo lote y la GPU calcula el siguiente token de todas en una sola operación. Cuando una termina, sale y entra otra (batching continuo). Se hace porque la GPU tarda casi lo mismo en multiplicar una matriz que cinco: el cuello de botella es mover datos, no calcular. Sin batching la GPU estaría casi parada.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Está distribuido el servicio: centros de datos en varias regiones, balanceadores, servidores de API, clústeres de GPU, bases de datos y almacenamiento.
Y está distribuido el propio modelo, que es lo llamativo: como no cabe en una sola GPU, se parte.
- Paralelismo de tensores: una misma capa se reparte entre varias GPUs, que calculan su trozo y juntan resultados. Obliga a sincronizarse constantemente.
- Paralelismo de tuberías: unas GPUs hacen las primeras capas y otras las siguientes; la salida de unas es la entrada de otras.
Comunicación: NVLink entre GPUs del mismo servidor, InfiniBand entre servidores, HTTPS y colas hacia fuera.
Los tres chips de abajo confirman que es un sistema distribuido: hay que gestionar latencia de comunicación, tolerancia a fallos (si cae un servidor, réplicas y reintentos) y coherencia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planificador del SO decide qué hilo ocupa cada núcleo y cuánto tiempo: prioridades y turnos (round-robin), con una rodaja de tiempo para cada tarea.
En un servicio de IA hay DOS niveles: el del SO reparte núcleos de CPU entre hilos, y otro por encima, del motor de inferencia, decide qué peticiones entran en el siguiente lote de GPU. El segundo es el que determina tu espera.
Cambio de contexto: guardar el estado de la tarea que sale (registros, contador de programa, punteros de pila) y cargar el de la que entra, para poder retomarla donde estaba.
Coste directo: microsegundos. Coste indirecto, normalmente mayor: la caché estaba llena de datos de la tarea anterior y ya no sirven, así que la nueva empieza fallando en caché. Es tiempo gastado en gestionar en vez de en calcular.
En GPU pasa algo parecido pero mucho más caro: apartar una petición a medias obligaría a mover su caché de atención, cientos de MB. Por eso se prefiere terminarla o descartarla antes que suspenderla.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Contad UNA de las tres con la captura delante y defendedla bien; aquí es donde preguntará el profesor.
1. Dijo que cada petición se atiende con su propio hilo. No escala: memoria de pila y demasiados cambios de contexto. Se usa E/S asíncrona y batching.
2. Mencionó CPU, GPU y TPU como si usara las tres. Las TPU son hardware de Google; ChatGPT va sobre Azure con GPUs NVIDIA. La CPU interviene en tareas de apoyo (red, tokenización, coordinación), no en el cálculo del modelo.
3. Dio cifras concretas y distintas en respuestas distintas: no tiene acceso a su propia infraestructura.
EXPLICACIÓN DE FONDO: un modelo de lenguaje no consulta una base de datos ni se introspecciona, predice texto. Por eso puede sonar seguro y estar equivocado.
CIERRE: una IA no es un programa instalado en un ordenador esperando nuestras preguntas; es un servicio distribuido, con muchos procesos en muchas máquinas, que atiende de forma concurrente miles de peticiones cuyo cálculo se ejecuta en paralelo sobre cientos de GPUs.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Citad al menos dos fuentes contrastadas y decid qué respuesta de ChatGPT tuvisteis que corregir gracias a ellas. Añadid la fecha de consulta.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628"/>
        </a:solidFill>
      </p:bgPr>
    </p:bg>
    <p:spTree>
      <p:nvGrpSpPr>
        <p:cNvPr id="1" name=""/>
        <p:cNvGrpSpPr/>
        <p:nvPr/>
      </p:nvGrpSpPr>
      <p:grpSpPr>
        <a:xfrm>
          <a:off x="0" y="0"/>
          <a:ext cx="0" cy="0"/>
          <a:chOff x="0" y="0"/>
          <a:chExt cx="0" cy="0"/>
        </a:xfrm>
      </p:grpSpPr>
      <p:sp>
        <p:nvSpPr>
          <p:cNvPr id="2" name="Shape 0"/>
          <p:cNvSpPr/>
          <p:nvPr/>
        </p:nvSpPr>
        <p:spPr>
          <a:xfrm>
            <a:off x="8778240" y="-1371600"/>
            <a:ext cx="4937760" cy="4937760"/>
          </a:xfrm>
          <a:prstGeom prst="ellipse">
            <a:avLst/>
          </a:prstGeom>
          <a:solidFill>
            <a:srgbClr val="16305A"/>
          </a:solidFill>
          <a:ln w="12700">
            <a:solidFill>
              <a:srgbClr val="16305A"/>
            </a:solidFill>
            <a:prstDash val="solid"/>
          </a:ln>
        </p:spPr>
      </p:sp>
      <p:sp>
        <p:nvSpPr>
          <p:cNvPr id="3" name="Shape 1"/>
          <p:cNvSpPr/>
          <p:nvPr/>
        </p:nvSpPr>
        <p:spPr>
          <a:xfrm>
            <a:off x="9966960" y="-182880"/>
            <a:ext cx="2560320" cy="2560320"/>
          </a:xfrm>
          <a:prstGeom prst="ellipse">
            <a:avLst/>
          </a:prstGeom>
          <a:solidFill>
            <a:srgbClr val="10A37F"/>
          </a:solidFill>
          <a:ln w="12700">
            <a:solidFill>
              <a:srgbClr val="10A37F"/>
            </a:solidFill>
            <a:prstDash val="solid"/>
          </a:ln>
        </p:spPr>
      </p:sp>
      <p:sp>
        <p:nvSpPr>
          <p:cNvPr id="4" name="Text 2"/>
          <p:cNvSpPr txBox="1"/>
          <p:nvPr/>
        </p:nvSpPr>
        <p:spPr>
          <a:xfrm>
            <a:off x="822960" y="1554480"/>
            <a:ext cx="7863840" cy="320040"/>
          </a:xfrm>
          <a:prstGeom prst="rect">
            <a:avLst/>
          </a:prstGeom>
          <a:noFill/>
          <a:ln/>
        </p:spPr>
        <p:txBody>
          <a:bodyPr wrap="square" lIns="0" tIns="0" rIns="0" bIns="0" rtlCol="0" anchor="ctr"/>
          <a:lstStyle/>
          <a:p>
            <a:pPr indent="0" marL="0">
              <a:buNone/>
            </a:pPr>
            <a:r>
              <a:rPr lang="en-US" sz="1200" b="1" spc="200" kern="0" dirty="0">
                <a:solidFill>
                  <a:srgbClr val="10A37F"/>
                </a:solidFill>
                <a:latin typeface="Arial" pitchFamily="34" charset="0"/>
                <a:ea typeface="Arial" pitchFamily="34" charset="-122"/>
                <a:cs typeface="Arial" pitchFamily="34" charset="-120"/>
              </a:rPr>
              <a:t>PROGRAMACIÓN CONCURRENTE · UT1.1</a:t>
            </a:r>
            <a:endParaRPr lang="en-US" sz="1200" dirty="0"/>
          </a:p>
        </p:txBody>
      </p:sp>
      <p:sp>
        <p:nvSpPr>
          <p:cNvPr id="5" name="Text 3"/>
          <p:cNvSpPr txBox="1"/>
          <p:nvPr/>
        </p:nvSpPr>
        <p:spPr>
          <a:xfrm>
            <a:off x="822960" y="1965960"/>
            <a:ext cx="8046720" cy="1554480"/>
          </a:xfrm>
          <a:prstGeom prst="rect">
            <a:avLst/>
          </a:prstGeom>
          <a:noFill/>
          <a:ln/>
        </p:spPr>
        <p:txBody>
          <a:bodyPr wrap="square" lIns="0" tIns="0" rIns="0" bIns="0" rtlCol="0" anchor="ctr"/>
          <a:lstStyle/>
          <a:p>
            <a:pPr indent="0" marL="0">
              <a:lnSpc>
                <a:spcPts val="4800"/>
              </a:lnSpc>
              <a:buNone/>
            </a:pPr>
            <a:r>
              <a:rPr lang="en-US" sz="4200" b="1" dirty="0">
                <a:solidFill>
                  <a:srgbClr val="FFFFFF"/>
                </a:solidFill>
                <a:latin typeface="Arial" pitchFamily="34" charset="0"/>
                <a:ea typeface="Arial" pitchFamily="34" charset="-122"/>
                <a:cs typeface="Arial" pitchFamily="34" charset="-120"/>
              </a:rPr>
              <a:t>¿Qué ocurre cuando</a:t>
            </a:r>
            <a:endParaRPr lang="en-US" sz="4200" dirty="0"/>
          </a:p>
          <a:p>
            <a:pPr indent="0" marL="0">
              <a:lnSpc>
                <a:spcPts val="4800"/>
              </a:lnSpc>
              <a:buNone/>
            </a:pPr>
            <a:r>
              <a:rPr lang="en-US" sz="4200" b="1" dirty="0">
                <a:solidFill>
                  <a:srgbClr val="FFFFFF"/>
                </a:solidFill>
                <a:latin typeface="Arial" pitchFamily="34" charset="0"/>
                <a:ea typeface="Arial" pitchFamily="34" charset="-122"/>
                <a:cs typeface="Arial" pitchFamily="34" charset="-120"/>
              </a:rPr>
              <a:t>preguntas a una IA?</a:t>
            </a:r>
            <a:endParaRPr lang="en-US" sz="4200" dirty="0"/>
          </a:p>
        </p:txBody>
      </p:sp>
      <p:sp>
        <p:nvSpPr>
          <p:cNvPr id="6" name="Text 4"/>
          <p:cNvSpPr txBox="1"/>
          <p:nvPr/>
        </p:nvSpPr>
        <p:spPr>
          <a:xfrm>
            <a:off x="822960" y="3657600"/>
            <a:ext cx="7863840" cy="457200"/>
          </a:xfrm>
          <a:prstGeom prst="rect">
            <a:avLst/>
          </a:prstGeom>
          <a:noFill/>
          <a:ln/>
        </p:spPr>
        <p:txBody>
          <a:bodyPr wrap="square" lIns="0" tIns="0" rIns="0" bIns="0" rtlCol="0" anchor="ctr"/>
          <a:lstStyle/>
          <a:p>
            <a:pPr indent="0" marL="0">
              <a:buNone/>
            </a:pPr>
            <a:r>
              <a:rPr lang="en-US" sz="2200" b="1" dirty="0">
                <a:solidFill>
                  <a:srgbClr val="10A37F"/>
                </a:solidFill>
                <a:latin typeface="Arial" pitchFamily="34" charset="0"/>
                <a:ea typeface="Arial" pitchFamily="34" charset="-122"/>
                <a:cs typeface="Arial" pitchFamily="34" charset="-120"/>
              </a:rPr>
              <a:t>ChatGPT  ·  OpenAI</a:t>
            </a:r>
            <a:endParaRPr lang="en-US" sz="2200" dirty="0"/>
          </a:p>
        </p:txBody>
      </p:sp>
      <p:sp>
        <p:nvSpPr>
          <p:cNvPr id="7" name="Shape 5"/>
          <p:cNvSpPr/>
          <p:nvPr/>
        </p:nvSpPr>
        <p:spPr>
          <a:xfrm>
            <a:off x="822960" y="5029200"/>
            <a:ext cx="10515600" cy="1097280"/>
          </a:xfrm>
          <a:prstGeom prst="roundRect">
            <a:avLst>
              <a:gd name="adj" fmla="val 6667"/>
            </a:avLst>
          </a:prstGeom>
          <a:solidFill>
            <a:srgbClr val="1B2540"/>
          </a:solidFill>
          <a:ln w="12700">
            <a:solidFill>
              <a:srgbClr val="273353"/>
            </a:solidFill>
            <a:prstDash val="solid"/>
          </a:ln>
        </p:spPr>
      </p:sp>
      <p:sp>
        <p:nvSpPr>
          <p:cNvPr id="8" name="Text 6"/>
          <p:cNvSpPr txBox="1"/>
          <p:nvPr/>
        </p:nvSpPr>
        <p:spPr>
          <a:xfrm>
            <a:off x="1097280" y="5029200"/>
            <a:ext cx="9966960" cy="10972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Nombre 1   ·   Nombre 2   ·   Nombre 3   ·   Nombre 4</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628"/>
        </a:solidFill>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oundRect">
            <a:avLst>
              <a:gd name="adj" fmla="val 37500"/>
            </a:avLst>
          </a:prstGeom>
          <a:solidFill>
            <a:srgbClr val="10A37F"/>
          </a:solidFill>
          <a:ln w="12700">
            <a:solidFill>
              <a:srgbClr val="10A37F"/>
            </a:solidFill>
            <a:prstDash val="solid"/>
          </a:ln>
        </p:spPr>
      </p:sp>
      <p:sp>
        <p:nvSpPr>
          <p:cNvPr id="3" name="Text 1"/>
          <p:cNvSpPr txBox="1"/>
          <p:nvPr/>
        </p:nvSpPr>
        <p:spPr>
          <a:xfrm>
            <a:off x="731520" y="310896"/>
            <a:ext cx="10881360" cy="621792"/>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¿Qué es ChatGPT?</a:t>
            </a:r>
            <a:endParaRPr lang="en-US" sz="3200" dirty="0"/>
          </a:p>
        </p:txBody>
      </p:sp>
      <p:sp>
        <p:nvSpPr>
          <p:cNvPr id="4" name="Shape 2"/>
          <p:cNvSpPr/>
          <p:nvPr/>
        </p:nvSpPr>
        <p:spPr>
          <a:xfrm>
            <a:off x="457200" y="1234440"/>
            <a:ext cx="2688336" cy="1234440"/>
          </a:xfrm>
          <a:prstGeom prst="roundRect">
            <a:avLst>
              <a:gd name="adj" fmla="val 5926"/>
            </a:avLst>
          </a:prstGeom>
          <a:solidFill>
            <a:srgbClr val="1B2540"/>
          </a:solidFill>
          <a:ln w="12700">
            <a:solidFill>
              <a:srgbClr val="273353"/>
            </a:solidFill>
            <a:prstDash val="solid"/>
          </a:ln>
        </p:spPr>
      </p:sp>
      <p:sp>
        <p:nvSpPr>
          <p:cNvPr id="5" name="Text 3"/>
          <p:cNvSpPr txBox="1"/>
          <p:nvPr/>
        </p:nvSpPr>
        <p:spPr>
          <a:xfrm>
            <a:off x="457200" y="1389888"/>
            <a:ext cx="2688336" cy="457200"/>
          </a:xfrm>
          <a:prstGeom prst="rect">
            <a:avLst/>
          </a:prstGeom>
          <a:noFill/>
          <a:ln/>
        </p:spPr>
        <p:txBody>
          <a:bodyPr wrap="square" lIns="0" tIns="0" rIns="0" bIns="0" rtlCol="0" anchor="ctr"/>
          <a:lstStyle/>
          <a:p>
            <a:pPr algn="ctr" indent="0" marL="0">
              <a:buNone/>
            </a:pPr>
            <a:r>
              <a:rPr lang="en-US" sz="1900" b="1" dirty="0">
                <a:solidFill>
                  <a:srgbClr val="10A37F"/>
                </a:solidFill>
                <a:latin typeface="Arial" pitchFamily="34" charset="0"/>
                <a:ea typeface="Arial" pitchFamily="34" charset="-122"/>
                <a:cs typeface="Arial" pitchFamily="34" charset="-120"/>
              </a:rPr>
              <a:t>OpenAI</a:t>
            </a:r>
            <a:endParaRPr lang="en-US" sz="1900" dirty="0"/>
          </a:p>
        </p:txBody>
      </p:sp>
      <p:sp>
        <p:nvSpPr>
          <p:cNvPr id="6" name="Text 4"/>
          <p:cNvSpPr txBox="1"/>
          <p:nvPr/>
        </p:nvSpPr>
        <p:spPr>
          <a:xfrm>
            <a:off x="457200" y="1847088"/>
            <a:ext cx="2688336" cy="365760"/>
          </a:xfrm>
          <a:prstGeom prst="rect">
            <a:avLst/>
          </a:prstGeom>
          <a:noFill/>
          <a:ln/>
        </p:spPr>
        <p:txBody>
          <a:bodyPr wrap="square" lIns="0" tIns="0" rIns="0" bIns="0" rtlCol="0" anchor="ctr"/>
          <a:lstStyle/>
          <a:p>
            <a:pPr algn="ctr" indent="0" marL="0">
              <a:buNone/>
            </a:pPr>
            <a:r>
              <a:rPr lang="en-US" sz="1300" dirty="0">
                <a:solidFill>
                  <a:srgbClr val="A9B4CC"/>
                </a:solidFill>
                <a:latin typeface="Calibri" pitchFamily="34" charset="0"/>
                <a:ea typeface="Calibri" pitchFamily="34" charset="-122"/>
                <a:cs typeface="Calibri" pitchFamily="34" charset="-120"/>
              </a:rPr>
              <a:t>2022</a:t>
            </a:r>
            <a:endParaRPr lang="en-US" sz="1300" dirty="0"/>
          </a:p>
        </p:txBody>
      </p:sp>
      <p:sp>
        <p:nvSpPr>
          <p:cNvPr id="7" name="Shape 5"/>
          <p:cNvSpPr/>
          <p:nvPr/>
        </p:nvSpPr>
        <p:spPr>
          <a:xfrm>
            <a:off x="3328416" y="1234440"/>
            <a:ext cx="2688336" cy="1234440"/>
          </a:xfrm>
          <a:prstGeom prst="roundRect">
            <a:avLst>
              <a:gd name="adj" fmla="val 5926"/>
            </a:avLst>
          </a:prstGeom>
          <a:solidFill>
            <a:srgbClr val="1B2540"/>
          </a:solidFill>
          <a:ln w="12700">
            <a:solidFill>
              <a:srgbClr val="273353"/>
            </a:solidFill>
            <a:prstDash val="solid"/>
          </a:ln>
        </p:spPr>
      </p:sp>
      <p:sp>
        <p:nvSpPr>
          <p:cNvPr id="8" name="Text 6"/>
          <p:cNvSpPr txBox="1"/>
          <p:nvPr/>
        </p:nvSpPr>
        <p:spPr>
          <a:xfrm>
            <a:off x="3328416" y="1389888"/>
            <a:ext cx="2688336" cy="457200"/>
          </a:xfrm>
          <a:prstGeom prst="rect">
            <a:avLst/>
          </a:prstGeom>
          <a:noFill/>
          <a:ln/>
        </p:spPr>
        <p:txBody>
          <a:bodyPr wrap="square" lIns="0" tIns="0" rIns="0" bIns="0" rtlCol="0" anchor="ctr"/>
          <a:lstStyle/>
          <a:p>
            <a:pPr algn="ctr" indent="0" marL="0">
              <a:buNone/>
            </a:pPr>
            <a:r>
              <a:rPr lang="en-US" sz="1900" b="1" dirty="0">
                <a:solidFill>
                  <a:srgbClr val="5B8DEF"/>
                </a:solidFill>
                <a:latin typeface="Arial" pitchFamily="34" charset="0"/>
                <a:ea typeface="Arial" pitchFamily="34" charset="-122"/>
                <a:cs typeface="Arial" pitchFamily="34" charset="-120"/>
              </a:rPr>
              <a:t>LLM</a:t>
            </a:r>
            <a:endParaRPr lang="en-US" sz="1900" dirty="0"/>
          </a:p>
        </p:txBody>
      </p:sp>
      <p:sp>
        <p:nvSpPr>
          <p:cNvPr id="9" name="Text 7"/>
          <p:cNvSpPr txBox="1"/>
          <p:nvPr/>
        </p:nvSpPr>
        <p:spPr>
          <a:xfrm>
            <a:off x="3328416" y="1847088"/>
            <a:ext cx="2688336" cy="365760"/>
          </a:xfrm>
          <a:prstGeom prst="rect">
            <a:avLst/>
          </a:prstGeom>
          <a:noFill/>
          <a:ln/>
        </p:spPr>
        <p:txBody>
          <a:bodyPr wrap="square" lIns="0" tIns="0" rIns="0" bIns="0" rtlCol="0" anchor="ctr"/>
          <a:lstStyle/>
          <a:p>
            <a:pPr algn="ctr" indent="0" marL="0">
              <a:buNone/>
            </a:pPr>
            <a:r>
              <a:rPr lang="en-US" sz="1300" dirty="0">
                <a:solidFill>
                  <a:srgbClr val="A9B4CC"/>
                </a:solidFill>
                <a:latin typeface="Calibri" pitchFamily="34" charset="0"/>
                <a:ea typeface="Calibri" pitchFamily="34" charset="-122"/>
                <a:cs typeface="Calibri" pitchFamily="34" charset="-120"/>
              </a:rPr>
              <a:t>Transformer</a:t>
            </a:r>
            <a:endParaRPr lang="en-US" sz="1300" dirty="0"/>
          </a:p>
        </p:txBody>
      </p:sp>
      <p:sp>
        <p:nvSpPr>
          <p:cNvPr id="10" name="Shape 8"/>
          <p:cNvSpPr/>
          <p:nvPr/>
        </p:nvSpPr>
        <p:spPr>
          <a:xfrm>
            <a:off x="6199632" y="1234440"/>
            <a:ext cx="2688336" cy="1234440"/>
          </a:xfrm>
          <a:prstGeom prst="roundRect">
            <a:avLst>
              <a:gd name="adj" fmla="val 5926"/>
            </a:avLst>
          </a:prstGeom>
          <a:solidFill>
            <a:srgbClr val="1B2540"/>
          </a:solidFill>
          <a:ln w="12700">
            <a:solidFill>
              <a:srgbClr val="273353"/>
            </a:solidFill>
            <a:prstDash val="solid"/>
          </a:ln>
        </p:spPr>
      </p:sp>
      <p:sp>
        <p:nvSpPr>
          <p:cNvPr id="11" name="Text 9"/>
          <p:cNvSpPr txBox="1"/>
          <p:nvPr/>
        </p:nvSpPr>
        <p:spPr>
          <a:xfrm>
            <a:off x="6199632" y="1389888"/>
            <a:ext cx="2688336" cy="457200"/>
          </a:xfrm>
          <a:prstGeom prst="rect">
            <a:avLst/>
          </a:prstGeom>
          <a:noFill/>
          <a:ln/>
        </p:spPr>
        <p:txBody>
          <a:bodyPr wrap="square" lIns="0" tIns="0" rIns="0" bIns="0" rtlCol="0" anchor="ctr"/>
          <a:lstStyle/>
          <a:p>
            <a:pPr algn="ctr" indent="0" marL="0">
              <a:buNone/>
            </a:pPr>
            <a:r>
              <a:rPr lang="en-US" sz="1900" b="1" dirty="0">
                <a:solidFill>
                  <a:srgbClr val="E8B04B"/>
                </a:solidFill>
                <a:latin typeface="Arial" pitchFamily="34" charset="0"/>
                <a:ea typeface="Arial" pitchFamily="34" charset="-122"/>
                <a:cs typeface="Arial" pitchFamily="34" charset="-120"/>
              </a:rPr>
              <a:t>Multimodal</a:t>
            </a:r>
            <a:endParaRPr lang="en-US" sz="1900" dirty="0"/>
          </a:p>
        </p:txBody>
      </p:sp>
      <p:sp>
        <p:nvSpPr>
          <p:cNvPr id="12" name="Text 10"/>
          <p:cNvSpPr txBox="1"/>
          <p:nvPr/>
        </p:nvSpPr>
        <p:spPr>
          <a:xfrm>
            <a:off x="6199632" y="1847088"/>
            <a:ext cx="2688336" cy="365760"/>
          </a:xfrm>
          <a:prstGeom prst="rect">
            <a:avLst/>
          </a:prstGeom>
          <a:noFill/>
          <a:ln/>
        </p:spPr>
        <p:txBody>
          <a:bodyPr wrap="square" lIns="0" tIns="0" rIns="0" bIns="0" rtlCol="0" anchor="ctr"/>
          <a:lstStyle/>
          <a:p>
            <a:pPr algn="ctr" indent="0" marL="0">
              <a:buNone/>
            </a:pPr>
            <a:r>
              <a:rPr lang="en-US" sz="1300" dirty="0">
                <a:solidFill>
                  <a:srgbClr val="A9B4CC"/>
                </a:solidFill>
                <a:latin typeface="Calibri" pitchFamily="34" charset="0"/>
                <a:ea typeface="Calibri" pitchFamily="34" charset="-122"/>
                <a:cs typeface="Calibri" pitchFamily="34" charset="-120"/>
              </a:rPr>
              <a:t>texto · imagen · voz</a:t>
            </a:r>
            <a:endParaRPr lang="en-US" sz="1300" dirty="0"/>
          </a:p>
        </p:txBody>
      </p:sp>
      <p:sp>
        <p:nvSpPr>
          <p:cNvPr id="13" name="Shape 11"/>
          <p:cNvSpPr/>
          <p:nvPr/>
        </p:nvSpPr>
        <p:spPr>
          <a:xfrm>
            <a:off x="9070848" y="1234440"/>
            <a:ext cx="2688336" cy="1234440"/>
          </a:xfrm>
          <a:prstGeom prst="roundRect">
            <a:avLst>
              <a:gd name="adj" fmla="val 5926"/>
            </a:avLst>
          </a:prstGeom>
          <a:solidFill>
            <a:srgbClr val="1B2540"/>
          </a:solidFill>
          <a:ln w="12700">
            <a:solidFill>
              <a:srgbClr val="273353"/>
            </a:solidFill>
            <a:prstDash val="solid"/>
          </a:ln>
        </p:spPr>
      </p:sp>
      <p:sp>
        <p:nvSpPr>
          <p:cNvPr id="14" name="Text 12"/>
          <p:cNvSpPr txBox="1"/>
          <p:nvPr/>
        </p:nvSpPr>
        <p:spPr>
          <a:xfrm>
            <a:off x="9070848" y="1389888"/>
            <a:ext cx="2688336" cy="457200"/>
          </a:xfrm>
          <a:prstGeom prst="rect">
            <a:avLst/>
          </a:prstGeom>
          <a:noFill/>
          <a:ln/>
        </p:spPr>
        <p:txBody>
          <a:bodyPr wrap="square" lIns="0" tIns="0" rIns="0" bIns="0" rtlCol="0" anchor="ctr"/>
          <a:lstStyle/>
          <a:p>
            <a:pPr algn="ctr" indent="0" marL="0">
              <a:buNone/>
            </a:pPr>
            <a:r>
              <a:rPr lang="en-US" sz="1900" b="1" dirty="0">
                <a:solidFill>
                  <a:srgbClr val="10A37F"/>
                </a:solidFill>
                <a:latin typeface="Arial" pitchFamily="34" charset="0"/>
                <a:ea typeface="Arial" pitchFamily="34" charset="-122"/>
                <a:cs typeface="Arial" pitchFamily="34" charset="-120"/>
              </a:rPr>
              <a:t>ChatGPT ≠ GPT</a:t>
            </a:r>
            <a:endParaRPr lang="en-US" sz="1900" dirty="0"/>
          </a:p>
        </p:txBody>
      </p:sp>
      <p:sp>
        <p:nvSpPr>
          <p:cNvPr id="15" name="Text 13"/>
          <p:cNvSpPr txBox="1"/>
          <p:nvPr/>
        </p:nvSpPr>
        <p:spPr>
          <a:xfrm>
            <a:off x="9070848" y="1847088"/>
            <a:ext cx="2688336" cy="365760"/>
          </a:xfrm>
          <a:prstGeom prst="rect">
            <a:avLst/>
          </a:prstGeom>
          <a:noFill/>
          <a:ln/>
        </p:spPr>
        <p:txBody>
          <a:bodyPr wrap="square" lIns="0" tIns="0" rIns="0" bIns="0" rtlCol="0" anchor="ctr"/>
          <a:lstStyle/>
          <a:p>
            <a:pPr algn="ctr" indent="0" marL="0">
              <a:buNone/>
            </a:pPr>
            <a:r>
              <a:rPr lang="en-US" sz="1300" dirty="0">
                <a:solidFill>
                  <a:srgbClr val="A9B4CC"/>
                </a:solidFill>
                <a:latin typeface="Calibri" pitchFamily="34" charset="0"/>
                <a:ea typeface="Calibri" pitchFamily="34" charset="-122"/>
                <a:cs typeface="Calibri" pitchFamily="34" charset="-120"/>
              </a:rPr>
              <a:t>app / modelo</a:t>
            </a:r>
            <a:endParaRPr lang="en-US" sz="1300" dirty="0"/>
          </a:p>
        </p:txBody>
      </p:sp>
      <p:sp>
        <p:nvSpPr>
          <p:cNvPr id="16" name="Shape 14"/>
          <p:cNvSpPr/>
          <p:nvPr/>
        </p:nvSpPr>
        <p:spPr>
          <a:xfrm>
            <a:off x="457200" y="2743200"/>
            <a:ext cx="5120640" cy="3246120"/>
          </a:xfrm>
          <a:prstGeom prst="roundRect">
            <a:avLst>
              <a:gd name="adj" fmla="val 2254"/>
            </a:avLst>
          </a:prstGeom>
          <a:solidFill>
            <a:srgbClr val="1B2540"/>
          </a:solidFill>
          <a:ln w="12700">
            <a:solidFill>
              <a:srgbClr val="273353"/>
            </a:solidFill>
            <a:prstDash val="solid"/>
          </a:ln>
        </p:spPr>
      </p:sp>
      <p:sp>
        <p:nvSpPr>
          <p:cNvPr id="17" name="Text 15"/>
          <p:cNvSpPr txBox="1"/>
          <p:nvPr/>
        </p:nvSpPr>
        <p:spPr>
          <a:xfrm>
            <a:off x="457200" y="2971800"/>
            <a:ext cx="5120640" cy="310896"/>
          </a:xfrm>
          <a:prstGeom prst="rect">
            <a:avLst/>
          </a:prstGeom>
          <a:noFill/>
          <a:ln/>
        </p:spPr>
        <p:txBody>
          <a:bodyPr wrap="square" lIns="0" tIns="0" rIns="0" bIns="0" rtlCol="0" anchor="ctr"/>
          <a:lstStyle/>
          <a:p>
            <a:pPr algn="ctr" indent="0" marL="0">
              <a:buNone/>
            </a:pPr>
            <a:r>
              <a:rPr lang="en-US" sz="1200" b="1" dirty="0">
                <a:solidFill>
                  <a:srgbClr val="A9B4CC"/>
                </a:solidFill>
                <a:latin typeface="Arial" pitchFamily="34" charset="0"/>
                <a:ea typeface="Arial" pitchFamily="34" charset="-122"/>
                <a:cs typeface="Arial" pitchFamily="34" charset="-120"/>
              </a:rPr>
              <a:t>TU PORTÁTIL</a:t>
            </a:r>
            <a:endParaRPr lang="en-US" sz="1200" dirty="0"/>
          </a:p>
        </p:txBody>
      </p:sp>
      <p:sp>
        <p:nvSpPr>
          <p:cNvPr id="18" name="Shape 16"/>
          <p:cNvSpPr/>
          <p:nvPr/>
        </p:nvSpPr>
        <p:spPr>
          <a:xfrm>
            <a:off x="2057400" y="3520440"/>
            <a:ext cx="1920240" cy="1188720"/>
          </a:xfrm>
          <a:prstGeom prst="roundRect">
            <a:avLst>
              <a:gd name="adj" fmla="val 4615"/>
            </a:avLst>
          </a:prstGeom>
          <a:solidFill>
            <a:srgbClr val="273353"/>
          </a:solidFill>
          <a:ln w="12700">
            <a:solidFill>
              <a:srgbClr val="3D4E78"/>
            </a:solidFill>
            <a:prstDash val="solid"/>
          </a:ln>
        </p:spPr>
      </p:sp>
      <p:sp>
        <p:nvSpPr>
          <p:cNvPr id="19" name="Shape 17"/>
          <p:cNvSpPr/>
          <p:nvPr/>
        </p:nvSpPr>
        <p:spPr>
          <a:xfrm>
            <a:off x="1828800" y="4709160"/>
            <a:ext cx="2377440" cy="128016"/>
          </a:xfrm>
          <a:prstGeom prst="rect">
            <a:avLst/>
          </a:prstGeom>
          <a:solidFill>
            <a:srgbClr val="3D4E78"/>
          </a:solidFill>
          <a:ln w="12700">
            <a:solidFill>
              <a:srgbClr val="3D4E78"/>
            </a:solidFill>
            <a:prstDash val="solid"/>
          </a:ln>
        </p:spPr>
      </p:sp>
      <p:sp>
        <p:nvSpPr>
          <p:cNvPr id="20" name="Text 18"/>
          <p:cNvSpPr txBox="1"/>
          <p:nvPr/>
        </p:nvSpPr>
        <p:spPr>
          <a:xfrm>
            <a:off x="2057400" y="3977640"/>
            <a:ext cx="1920240"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16 GB</a:t>
            </a:r>
            <a:endParaRPr lang="en-US" sz="1500" dirty="0"/>
          </a:p>
        </p:txBody>
      </p:sp>
      <p:sp>
        <p:nvSpPr>
          <p:cNvPr id="21" name="Text 19"/>
          <p:cNvSpPr txBox="1"/>
          <p:nvPr/>
        </p:nvSpPr>
        <p:spPr>
          <a:xfrm>
            <a:off x="2057400" y="5029200"/>
            <a:ext cx="1920240" cy="457200"/>
          </a:xfrm>
          <a:prstGeom prst="rect">
            <a:avLst/>
          </a:prstGeom>
          <a:noFill/>
          <a:ln/>
        </p:spPr>
        <p:txBody>
          <a:bodyPr wrap="square" lIns="0" tIns="0" rIns="0" bIns="0" rtlCol="0" anchor="ctr"/>
          <a:lstStyle/>
          <a:p>
            <a:pPr algn="ctr" indent="0" marL="0">
              <a:buNone/>
            </a:pPr>
            <a:r>
              <a:rPr lang="en-US" sz="2600" b="1" dirty="0">
                <a:solidFill>
                  <a:srgbClr val="E8685A"/>
                </a:solidFill>
                <a:latin typeface="Arial" pitchFamily="34" charset="0"/>
                <a:ea typeface="Arial" pitchFamily="34" charset="-122"/>
                <a:cs typeface="Arial" pitchFamily="34" charset="-120"/>
              </a:rPr>
              <a:t>✕</a:t>
            </a:r>
            <a:endParaRPr lang="en-US" sz="2600" dirty="0"/>
          </a:p>
        </p:txBody>
      </p:sp>
      <p:sp>
        <p:nvSpPr>
          <p:cNvPr id="22" name="Text 20"/>
          <p:cNvSpPr txBox="1"/>
          <p:nvPr/>
        </p:nvSpPr>
        <p:spPr>
          <a:xfrm>
            <a:off x="457200" y="5532120"/>
            <a:ext cx="5120640" cy="310896"/>
          </a:xfrm>
          <a:prstGeom prst="rect">
            <a:avLst/>
          </a:prstGeom>
          <a:noFill/>
          <a:ln/>
        </p:spPr>
        <p:txBody>
          <a:bodyPr wrap="square" lIns="0" tIns="0" rIns="0" bIns="0" rtlCol="0" anchor="ctr"/>
          <a:lstStyle/>
          <a:p>
            <a:pPr algn="ctr" indent="0" marL="0">
              <a:buNone/>
            </a:pPr>
            <a:r>
              <a:rPr lang="en-US" sz="1400" b="1" dirty="0">
                <a:solidFill>
                  <a:srgbClr val="E8685A"/>
                </a:solidFill>
                <a:latin typeface="Arial" pitchFamily="34" charset="0"/>
                <a:ea typeface="Arial" pitchFamily="34" charset="-122"/>
                <a:cs typeface="Arial" pitchFamily="34" charset="-120"/>
              </a:rPr>
              <a:t>no cabe</a:t>
            </a:r>
            <a:endParaRPr lang="en-US" sz="1400" dirty="0"/>
          </a:p>
        </p:txBody>
      </p:sp>
      <p:sp>
        <p:nvSpPr>
          <p:cNvPr id="23" name="Shape 21"/>
          <p:cNvSpPr/>
          <p:nvPr/>
        </p:nvSpPr>
        <p:spPr>
          <a:xfrm>
            <a:off x="6126480" y="2743200"/>
            <a:ext cx="5605272" cy="3246120"/>
          </a:xfrm>
          <a:prstGeom prst="roundRect">
            <a:avLst>
              <a:gd name="adj" fmla="val 2254"/>
            </a:avLst>
          </a:prstGeom>
          <a:solidFill>
            <a:srgbClr val="1B2540"/>
          </a:solidFill>
          <a:ln w="19050">
            <a:solidFill>
              <a:srgbClr val="10A37F"/>
            </a:solidFill>
            <a:prstDash val="solid"/>
          </a:ln>
        </p:spPr>
      </p:sp>
      <p:sp>
        <p:nvSpPr>
          <p:cNvPr id="24" name="Text 22"/>
          <p:cNvSpPr txBox="1"/>
          <p:nvPr/>
        </p:nvSpPr>
        <p:spPr>
          <a:xfrm>
            <a:off x="6126480" y="2971800"/>
            <a:ext cx="5605272" cy="310896"/>
          </a:xfrm>
          <a:prstGeom prst="rect">
            <a:avLst/>
          </a:prstGeom>
          <a:noFill/>
          <a:ln/>
        </p:spPr>
        <p:txBody>
          <a:bodyPr wrap="square" lIns="0" tIns="0" rIns="0" bIns="0" rtlCol="0" anchor="ctr"/>
          <a:lstStyle/>
          <a:p>
            <a:pPr algn="ctr" indent="0" marL="0">
              <a:buNone/>
            </a:pPr>
            <a:r>
              <a:rPr lang="en-US" sz="1200" b="1" dirty="0">
                <a:solidFill>
                  <a:srgbClr val="A9B4CC"/>
                </a:solidFill>
                <a:latin typeface="Arial" pitchFamily="34" charset="0"/>
                <a:ea typeface="Arial" pitchFamily="34" charset="-122"/>
                <a:cs typeface="Arial" pitchFamily="34" charset="-120"/>
              </a:rPr>
              <a:t>CENTRO DE DATOS</a:t>
            </a:r>
            <a:endParaRPr lang="en-US" sz="1200" dirty="0"/>
          </a:p>
        </p:txBody>
      </p:sp>
      <p:sp>
        <p:nvSpPr>
          <p:cNvPr id="25" name="Shape 23"/>
          <p:cNvSpPr/>
          <p:nvPr/>
        </p:nvSpPr>
        <p:spPr>
          <a:xfrm>
            <a:off x="6537960" y="3520440"/>
            <a:ext cx="1024128" cy="621792"/>
          </a:xfrm>
          <a:prstGeom prst="roundRect">
            <a:avLst>
              <a:gd name="adj" fmla="val 7353"/>
            </a:avLst>
          </a:prstGeom>
          <a:solidFill>
            <a:srgbClr val="273353"/>
          </a:solidFill>
          <a:ln w="12700">
            <a:solidFill>
              <a:srgbClr val="10A37F"/>
            </a:solidFill>
            <a:prstDash val="solid"/>
          </a:ln>
        </p:spPr>
      </p:sp>
      <p:sp>
        <p:nvSpPr>
          <p:cNvPr id="26" name="Text 24"/>
          <p:cNvSpPr txBox="1"/>
          <p:nvPr/>
        </p:nvSpPr>
        <p:spPr>
          <a:xfrm>
            <a:off x="6537960" y="3520440"/>
            <a:ext cx="1024128"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GPU</a:t>
            </a:r>
            <a:endParaRPr lang="en-US" sz="1100" dirty="0"/>
          </a:p>
        </p:txBody>
      </p:sp>
      <p:sp>
        <p:nvSpPr>
          <p:cNvPr id="27" name="Shape 25"/>
          <p:cNvSpPr/>
          <p:nvPr/>
        </p:nvSpPr>
        <p:spPr>
          <a:xfrm>
            <a:off x="7744968" y="3520440"/>
            <a:ext cx="1024128" cy="621792"/>
          </a:xfrm>
          <a:prstGeom prst="roundRect">
            <a:avLst>
              <a:gd name="adj" fmla="val 7353"/>
            </a:avLst>
          </a:prstGeom>
          <a:solidFill>
            <a:srgbClr val="273353"/>
          </a:solidFill>
          <a:ln w="12700">
            <a:solidFill>
              <a:srgbClr val="10A37F"/>
            </a:solidFill>
            <a:prstDash val="solid"/>
          </a:ln>
        </p:spPr>
      </p:sp>
      <p:sp>
        <p:nvSpPr>
          <p:cNvPr id="28" name="Text 26"/>
          <p:cNvSpPr txBox="1"/>
          <p:nvPr/>
        </p:nvSpPr>
        <p:spPr>
          <a:xfrm>
            <a:off x="7744968" y="3520440"/>
            <a:ext cx="1024128"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GPU</a:t>
            </a:r>
            <a:endParaRPr lang="en-US" sz="1100" dirty="0"/>
          </a:p>
        </p:txBody>
      </p:sp>
      <p:sp>
        <p:nvSpPr>
          <p:cNvPr id="29" name="Shape 27"/>
          <p:cNvSpPr/>
          <p:nvPr/>
        </p:nvSpPr>
        <p:spPr>
          <a:xfrm>
            <a:off x="8951976" y="3520440"/>
            <a:ext cx="1024128" cy="621792"/>
          </a:xfrm>
          <a:prstGeom prst="roundRect">
            <a:avLst>
              <a:gd name="adj" fmla="val 7353"/>
            </a:avLst>
          </a:prstGeom>
          <a:solidFill>
            <a:srgbClr val="273353"/>
          </a:solidFill>
          <a:ln w="12700">
            <a:solidFill>
              <a:srgbClr val="10A37F"/>
            </a:solidFill>
            <a:prstDash val="solid"/>
          </a:ln>
        </p:spPr>
      </p:sp>
      <p:sp>
        <p:nvSpPr>
          <p:cNvPr id="30" name="Text 28"/>
          <p:cNvSpPr txBox="1"/>
          <p:nvPr/>
        </p:nvSpPr>
        <p:spPr>
          <a:xfrm>
            <a:off x="8951976" y="3520440"/>
            <a:ext cx="1024128"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GPU</a:t>
            </a:r>
            <a:endParaRPr lang="en-US" sz="1100" dirty="0"/>
          </a:p>
        </p:txBody>
      </p:sp>
      <p:sp>
        <p:nvSpPr>
          <p:cNvPr id="31" name="Shape 29"/>
          <p:cNvSpPr/>
          <p:nvPr/>
        </p:nvSpPr>
        <p:spPr>
          <a:xfrm>
            <a:off x="10158984" y="3520440"/>
            <a:ext cx="1024128" cy="621792"/>
          </a:xfrm>
          <a:prstGeom prst="roundRect">
            <a:avLst>
              <a:gd name="adj" fmla="val 7353"/>
            </a:avLst>
          </a:prstGeom>
          <a:solidFill>
            <a:srgbClr val="273353"/>
          </a:solidFill>
          <a:ln w="12700">
            <a:solidFill>
              <a:srgbClr val="10A37F"/>
            </a:solidFill>
            <a:prstDash val="solid"/>
          </a:ln>
        </p:spPr>
      </p:sp>
      <p:sp>
        <p:nvSpPr>
          <p:cNvPr id="32" name="Text 30"/>
          <p:cNvSpPr txBox="1"/>
          <p:nvPr/>
        </p:nvSpPr>
        <p:spPr>
          <a:xfrm>
            <a:off x="10158984" y="3520440"/>
            <a:ext cx="1024128"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GPU</a:t>
            </a:r>
            <a:endParaRPr lang="en-US" sz="1100" dirty="0"/>
          </a:p>
        </p:txBody>
      </p:sp>
      <p:sp>
        <p:nvSpPr>
          <p:cNvPr id="33" name="Shape 31"/>
          <p:cNvSpPr/>
          <p:nvPr/>
        </p:nvSpPr>
        <p:spPr>
          <a:xfrm>
            <a:off x="6537960" y="4297680"/>
            <a:ext cx="1024128" cy="621792"/>
          </a:xfrm>
          <a:prstGeom prst="roundRect">
            <a:avLst>
              <a:gd name="adj" fmla="val 7353"/>
            </a:avLst>
          </a:prstGeom>
          <a:solidFill>
            <a:srgbClr val="273353"/>
          </a:solidFill>
          <a:ln w="12700">
            <a:solidFill>
              <a:srgbClr val="10A37F"/>
            </a:solidFill>
            <a:prstDash val="solid"/>
          </a:ln>
        </p:spPr>
      </p:sp>
      <p:sp>
        <p:nvSpPr>
          <p:cNvPr id="34" name="Text 32"/>
          <p:cNvSpPr txBox="1"/>
          <p:nvPr/>
        </p:nvSpPr>
        <p:spPr>
          <a:xfrm>
            <a:off x="6537960" y="4297680"/>
            <a:ext cx="1024128"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GPU</a:t>
            </a:r>
            <a:endParaRPr lang="en-US" sz="1100" dirty="0"/>
          </a:p>
        </p:txBody>
      </p:sp>
      <p:sp>
        <p:nvSpPr>
          <p:cNvPr id="35" name="Shape 33"/>
          <p:cNvSpPr/>
          <p:nvPr/>
        </p:nvSpPr>
        <p:spPr>
          <a:xfrm>
            <a:off x="7744968" y="4297680"/>
            <a:ext cx="1024128" cy="621792"/>
          </a:xfrm>
          <a:prstGeom prst="roundRect">
            <a:avLst>
              <a:gd name="adj" fmla="val 7353"/>
            </a:avLst>
          </a:prstGeom>
          <a:solidFill>
            <a:srgbClr val="273353"/>
          </a:solidFill>
          <a:ln w="12700">
            <a:solidFill>
              <a:srgbClr val="10A37F"/>
            </a:solidFill>
            <a:prstDash val="solid"/>
          </a:ln>
        </p:spPr>
      </p:sp>
      <p:sp>
        <p:nvSpPr>
          <p:cNvPr id="36" name="Text 34"/>
          <p:cNvSpPr txBox="1"/>
          <p:nvPr/>
        </p:nvSpPr>
        <p:spPr>
          <a:xfrm>
            <a:off x="7744968" y="4297680"/>
            <a:ext cx="1024128"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GPU</a:t>
            </a:r>
            <a:endParaRPr lang="en-US" sz="1100" dirty="0"/>
          </a:p>
        </p:txBody>
      </p:sp>
      <p:sp>
        <p:nvSpPr>
          <p:cNvPr id="37" name="Shape 35"/>
          <p:cNvSpPr/>
          <p:nvPr/>
        </p:nvSpPr>
        <p:spPr>
          <a:xfrm>
            <a:off x="8951976" y="4297680"/>
            <a:ext cx="1024128" cy="621792"/>
          </a:xfrm>
          <a:prstGeom prst="roundRect">
            <a:avLst>
              <a:gd name="adj" fmla="val 7353"/>
            </a:avLst>
          </a:prstGeom>
          <a:solidFill>
            <a:srgbClr val="273353"/>
          </a:solidFill>
          <a:ln w="12700">
            <a:solidFill>
              <a:srgbClr val="10A37F"/>
            </a:solidFill>
            <a:prstDash val="solid"/>
          </a:ln>
        </p:spPr>
      </p:sp>
      <p:sp>
        <p:nvSpPr>
          <p:cNvPr id="38" name="Text 36"/>
          <p:cNvSpPr txBox="1"/>
          <p:nvPr/>
        </p:nvSpPr>
        <p:spPr>
          <a:xfrm>
            <a:off x="8951976" y="4297680"/>
            <a:ext cx="1024128"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GPU</a:t>
            </a:r>
            <a:endParaRPr lang="en-US" sz="1100" dirty="0"/>
          </a:p>
        </p:txBody>
      </p:sp>
      <p:sp>
        <p:nvSpPr>
          <p:cNvPr id="39" name="Shape 37"/>
          <p:cNvSpPr/>
          <p:nvPr/>
        </p:nvSpPr>
        <p:spPr>
          <a:xfrm>
            <a:off x="10158984" y="4297680"/>
            <a:ext cx="1024128" cy="621792"/>
          </a:xfrm>
          <a:prstGeom prst="roundRect">
            <a:avLst>
              <a:gd name="adj" fmla="val 7353"/>
            </a:avLst>
          </a:prstGeom>
          <a:solidFill>
            <a:srgbClr val="273353"/>
          </a:solidFill>
          <a:ln w="12700">
            <a:solidFill>
              <a:srgbClr val="10A37F"/>
            </a:solidFill>
            <a:prstDash val="solid"/>
          </a:ln>
        </p:spPr>
      </p:sp>
      <p:sp>
        <p:nvSpPr>
          <p:cNvPr id="40" name="Text 38"/>
          <p:cNvSpPr txBox="1"/>
          <p:nvPr/>
        </p:nvSpPr>
        <p:spPr>
          <a:xfrm>
            <a:off x="10158984" y="4297680"/>
            <a:ext cx="1024128"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GPU</a:t>
            </a:r>
            <a:endParaRPr lang="en-US" sz="1100" dirty="0"/>
          </a:p>
        </p:txBody>
      </p:sp>
      <p:sp>
        <p:nvSpPr>
          <p:cNvPr id="41" name="Text 39"/>
          <p:cNvSpPr txBox="1"/>
          <p:nvPr/>
        </p:nvSpPr>
        <p:spPr>
          <a:xfrm>
            <a:off x="6126480" y="5029200"/>
            <a:ext cx="5605272" cy="457200"/>
          </a:xfrm>
          <a:prstGeom prst="rect">
            <a:avLst/>
          </a:prstGeom>
          <a:noFill/>
          <a:ln/>
        </p:spPr>
        <p:txBody>
          <a:bodyPr wrap="square" lIns="0" tIns="0" rIns="0" bIns="0" rtlCol="0" anchor="ctr"/>
          <a:lstStyle/>
          <a:p>
            <a:pPr algn="ctr" indent="0" marL="0">
              <a:buNone/>
            </a:pPr>
            <a:r>
              <a:rPr lang="en-US" sz="2600" b="1" dirty="0">
                <a:solidFill>
                  <a:srgbClr val="10A37F"/>
                </a:solidFill>
                <a:latin typeface="Arial" pitchFamily="34" charset="0"/>
                <a:ea typeface="Arial" pitchFamily="34" charset="-122"/>
                <a:cs typeface="Arial" pitchFamily="34" charset="-120"/>
              </a:rPr>
              <a:t>✓</a:t>
            </a:r>
            <a:endParaRPr lang="en-US" sz="2600" dirty="0"/>
          </a:p>
        </p:txBody>
      </p:sp>
      <p:sp>
        <p:nvSpPr>
          <p:cNvPr id="42" name="Text 40"/>
          <p:cNvSpPr txBox="1"/>
          <p:nvPr/>
        </p:nvSpPr>
        <p:spPr>
          <a:xfrm>
            <a:off x="6126480" y="5532120"/>
            <a:ext cx="5605272" cy="310896"/>
          </a:xfrm>
          <a:prstGeom prst="rect">
            <a:avLst/>
          </a:prstGeom>
          <a:noFill/>
          <a:ln/>
        </p:spPr>
        <p:txBody>
          <a:bodyPr wrap="square" lIns="0" tIns="0" rIns="0" bIns="0" rtlCol="0" anchor="ctr"/>
          <a:lstStyle/>
          <a:p>
            <a:pPr algn="ctr" indent="0" marL="0">
              <a:buNone/>
            </a:pPr>
            <a:r>
              <a:rPr lang="en-US" sz="1400" b="1" dirty="0">
                <a:solidFill>
                  <a:srgbClr val="10A37F"/>
                </a:solidFill>
                <a:latin typeface="Arial" pitchFamily="34" charset="0"/>
                <a:ea typeface="Arial" pitchFamily="34" charset="-122"/>
                <a:cs typeface="Arial" pitchFamily="34" charset="-120"/>
              </a:rPr>
              <a:t>cientos de miles de millones de parámetros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628"/>
        </a:solidFill>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oundRect">
            <a:avLst>
              <a:gd name="adj" fmla="val 37500"/>
            </a:avLst>
          </a:prstGeom>
          <a:solidFill>
            <a:srgbClr val="10A37F"/>
          </a:solidFill>
          <a:ln w="12700">
            <a:solidFill>
              <a:srgbClr val="10A37F"/>
            </a:solidFill>
            <a:prstDash val="solid"/>
          </a:ln>
        </p:spPr>
      </p:sp>
      <p:sp>
        <p:nvSpPr>
          <p:cNvPr id="3" name="Text 1"/>
          <p:cNvSpPr txBox="1"/>
          <p:nvPr/>
        </p:nvSpPr>
        <p:spPr>
          <a:xfrm>
            <a:off x="731520" y="310896"/>
            <a:ext cx="10881360" cy="621792"/>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El viaje de una pregunta</a:t>
            </a:r>
            <a:endParaRPr lang="en-US" sz="3200" dirty="0"/>
          </a:p>
        </p:txBody>
      </p:sp>
      <p:sp>
        <p:nvSpPr>
          <p:cNvPr id="4" name="Shape 2"/>
          <p:cNvSpPr/>
          <p:nvPr/>
        </p:nvSpPr>
        <p:spPr>
          <a:xfrm>
            <a:off x="475488" y="1737360"/>
            <a:ext cx="1700784" cy="2286000"/>
          </a:xfrm>
          <a:prstGeom prst="roundRect">
            <a:avLst>
              <a:gd name="adj" fmla="val 4301"/>
            </a:avLst>
          </a:prstGeom>
          <a:solidFill>
            <a:srgbClr val="1B2540"/>
          </a:solidFill>
          <a:ln w="12700">
            <a:solidFill>
              <a:srgbClr val="273353"/>
            </a:solidFill>
            <a:prstDash val="solid"/>
          </a:ln>
        </p:spPr>
      </p:sp>
      <p:sp>
        <p:nvSpPr>
          <p:cNvPr id="5" name="Shape 3"/>
          <p:cNvSpPr/>
          <p:nvPr/>
        </p:nvSpPr>
        <p:spPr>
          <a:xfrm>
            <a:off x="1115568" y="2103120"/>
            <a:ext cx="420624" cy="420624"/>
          </a:xfrm>
          <a:prstGeom prst="ellipse">
            <a:avLst/>
          </a:prstGeom>
          <a:solidFill>
            <a:srgbClr val="5B8DEF"/>
          </a:solidFill>
          <a:ln w="12700">
            <a:solidFill>
              <a:srgbClr val="5B8DEF"/>
            </a:solidFill>
            <a:prstDash val="solid"/>
          </a:ln>
        </p:spPr>
      </p:sp>
      <p:sp>
        <p:nvSpPr>
          <p:cNvPr id="6" name="Text 4"/>
          <p:cNvSpPr txBox="1"/>
          <p:nvPr/>
        </p:nvSpPr>
        <p:spPr>
          <a:xfrm>
            <a:off x="1115568" y="2103120"/>
            <a:ext cx="420624" cy="420624"/>
          </a:xfrm>
          <a:prstGeom prst="rect">
            <a:avLst/>
          </a:prstGeom>
          <a:noFill/>
          <a:ln/>
        </p:spPr>
        <p:txBody>
          <a:bodyPr wrap="square" lIns="0" tIns="0" rIns="0" bIns="0" rtlCol="0" anchor="ctr"/>
          <a:lstStyle/>
          <a:p>
            <a:pPr algn="ctr" indent="0" marL="0">
              <a:buNone/>
            </a:pPr>
            <a:r>
              <a:rPr lang="en-US" sz="1600" b="1" dirty="0">
                <a:solidFill>
                  <a:srgbClr val="0E1628"/>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566928" y="2743200"/>
            <a:ext cx="1517904" cy="1005840"/>
          </a:xfrm>
          <a:prstGeom prst="rect">
            <a:avLst/>
          </a:prstGeom>
          <a:noFill/>
          <a:ln/>
        </p:spPr>
        <p:txBody>
          <a:bodyPr wrap="square" lIns="0" tIns="0" rIns="0" bIns="0" rtlCol="0" anchor="ctr"/>
          <a:lstStyle/>
          <a:p>
            <a:pPr algn="ctr" indent="0" marL="0">
              <a:lnSpc>
                <a:spcPts val="1800"/>
              </a:lnSpc>
              <a:buNone/>
            </a:pPr>
            <a:r>
              <a:rPr lang="en-US" sz="1400" b="1" dirty="0">
                <a:solidFill>
                  <a:srgbClr val="FFFFFF"/>
                </a:solidFill>
                <a:latin typeface="Arial" pitchFamily="34" charset="0"/>
                <a:ea typeface="Arial" pitchFamily="34" charset="-122"/>
                <a:cs typeface="Arial" pitchFamily="34" charset="-120"/>
              </a:rPr>
              <a:t>Usuario</a:t>
            </a:r>
            <a:endParaRPr lang="en-US" sz="1400" dirty="0"/>
          </a:p>
        </p:txBody>
      </p:sp>
      <p:sp>
        <p:nvSpPr>
          <p:cNvPr id="8" name="Text 6"/>
          <p:cNvSpPr txBox="1"/>
          <p:nvPr/>
        </p:nvSpPr>
        <p:spPr>
          <a:xfrm>
            <a:off x="2176272" y="2606040"/>
            <a:ext cx="201168" cy="548640"/>
          </a:xfrm>
          <a:prstGeom prst="rect">
            <a:avLst/>
          </a:prstGeom>
          <a:noFill/>
          <a:ln/>
        </p:spPr>
        <p:txBody>
          <a:bodyPr wrap="square" lIns="0" tIns="0" rIns="0" bIns="0" rtlCol="0" anchor="ctr"/>
          <a:lstStyle/>
          <a:p>
            <a:pPr algn="ctr" indent="0" marL="0">
              <a:buNone/>
            </a:pPr>
            <a:r>
              <a:rPr lang="en-US" sz="2400" b="1" dirty="0">
                <a:solidFill>
                  <a:srgbClr val="10A37F"/>
                </a:solidFill>
                <a:latin typeface="Arial" pitchFamily="34" charset="0"/>
                <a:ea typeface="Arial" pitchFamily="34" charset="-122"/>
                <a:cs typeface="Arial" pitchFamily="34" charset="-120"/>
              </a:rPr>
              <a:t>›</a:t>
            </a:r>
            <a:endParaRPr lang="en-US" sz="2400" dirty="0"/>
          </a:p>
        </p:txBody>
      </p:sp>
      <p:sp>
        <p:nvSpPr>
          <p:cNvPr id="9" name="Shape 7"/>
          <p:cNvSpPr/>
          <p:nvPr/>
        </p:nvSpPr>
        <p:spPr>
          <a:xfrm>
            <a:off x="2377440" y="1737360"/>
            <a:ext cx="1700784" cy="2286000"/>
          </a:xfrm>
          <a:prstGeom prst="roundRect">
            <a:avLst>
              <a:gd name="adj" fmla="val 4301"/>
            </a:avLst>
          </a:prstGeom>
          <a:solidFill>
            <a:srgbClr val="1B2540"/>
          </a:solidFill>
          <a:ln w="12700">
            <a:solidFill>
              <a:srgbClr val="273353"/>
            </a:solidFill>
            <a:prstDash val="solid"/>
          </a:ln>
        </p:spPr>
      </p:sp>
      <p:sp>
        <p:nvSpPr>
          <p:cNvPr id="10" name="Shape 8"/>
          <p:cNvSpPr/>
          <p:nvPr/>
        </p:nvSpPr>
        <p:spPr>
          <a:xfrm>
            <a:off x="3017520" y="2103120"/>
            <a:ext cx="420624" cy="420624"/>
          </a:xfrm>
          <a:prstGeom prst="ellipse">
            <a:avLst/>
          </a:prstGeom>
          <a:solidFill>
            <a:srgbClr val="5B8DEF"/>
          </a:solidFill>
          <a:ln w="12700">
            <a:solidFill>
              <a:srgbClr val="5B8DEF"/>
            </a:solidFill>
            <a:prstDash val="solid"/>
          </a:ln>
        </p:spPr>
      </p:sp>
      <p:sp>
        <p:nvSpPr>
          <p:cNvPr id="11" name="Text 9"/>
          <p:cNvSpPr txBox="1"/>
          <p:nvPr/>
        </p:nvSpPr>
        <p:spPr>
          <a:xfrm>
            <a:off x="3017520" y="2103120"/>
            <a:ext cx="420624" cy="420624"/>
          </a:xfrm>
          <a:prstGeom prst="rect">
            <a:avLst/>
          </a:prstGeom>
          <a:noFill/>
          <a:ln/>
        </p:spPr>
        <p:txBody>
          <a:bodyPr wrap="square" lIns="0" tIns="0" rIns="0" bIns="0" rtlCol="0" anchor="ctr"/>
          <a:lstStyle/>
          <a:p>
            <a:pPr algn="ctr" indent="0" marL="0">
              <a:buNone/>
            </a:pPr>
            <a:r>
              <a:rPr lang="en-US" sz="1600" b="1" dirty="0">
                <a:solidFill>
                  <a:srgbClr val="0E1628"/>
                </a:solidFill>
                <a:latin typeface="Arial" pitchFamily="34" charset="0"/>
                <a:ea typeface="Arial" pitchFamily="34" charset="-122"/>
                <a:cs typeface="Arial" pitchFamily="34" charset="-120"/>
              </a:rPr>
              <a:t>2</a:t>
            </a:r>
            <a:endParaRPr lang="en-US" sz="1600" dirty="0"/>
          </a:p>
        </p:txBody>
      </p:sp>
      <p:sp>
        <p:nvSpPr>
          <p:cNvPr id="12" name="Text 10"/>
          <p:cNvSpPr txBox="1"/>
          <p:nvPr/>
        </p:nvSpPr>
        <p:spPr>
          <a:xfrm>
            <a:off x="2468880" y="2743200"/>
            <a:ext cx="1517904" cy="1005840"/>
          </a:xfrm>
          <a:prstGeom prst="rect">
            <a:avLst/>
          </a:prstGeom>
          <a:noFill/>
          <a:ln/>
        </p:spPr>
        <p:txBody>
          <a:bodyPr wrap="square" lIns="0" tIns="0" rIns="0" bIns="0" rtlCol="0" anchor="ctr"/>
          <a:lstStyle/>
          <a:p>
            <a:pPr algn="ctr" indent="0" marL="0">
              <a:lnSpc>
                <a:spcPts val="1800"/>
              </a:lnSpc>
              <a:buNone/>
            </a:pPr>
            <a:r>
              <a:rPr lang="en-US" sz="1400" b="1" dirty="0">
                <a:solidFill>
                  <a:srgbClr val="FFFFFF"/>
                </a:solidFill>
                <a:latin typeface="Arial" pitchFamily="34" charset="0"/>
                <a:ea typeface="Arial" pitchFamily="34" charset="-122"/>
                <a:cs typeface="Arial" pitchFamily="34" charset="-120"/>
              </a:rPr>
              <a:t>Internet</a:t>
            </a:r>
            <a:endParaRPr lang="en-US" sz="1400" dirty="0"/>
          </a:p>
        </p:txBody>
      </p:sp>
      <p:sp>
        <p:nvSpPr>
          <p:cNvPr id="13" name="Text 11"/>
          <p:cNvSpPr txBox="1"/>
          <p:nvPr/>
        </p:nvSpPr>
        <p:spPr>
          <a:xfrm>
            <a:off x="4078224" y="2606040"/>
            <a:ext cx="201168" cy="548640"/>
          </a:xfrm>
          <a:prstGeom prst="rect">
            <a:avLst/>
          </a:prstGeom>
          <a:noFill/>
          <a:ln/>
        </p:spPr>
        <p:txBody>
          <a:bodyPr wrap="square" lIns="0" tIns="0" rIns="0" bIns="0" rtlCol="0" anchor="ctr"/>
          <a:lstStyle/>
          <a:p>
            <a:pPr algn="ctr" indent="0" marL="0">
              <a:buNone/>
            </a:pPr>
            <a:r>
              <a:rPr lang="en-US" sz="2400" b="1" dirty="0">
                <a:solidFill>
                  <a:srgbClr val="10A37F"/>
                </a:solidFill>
                <a:latin typeface="Arial" pitchFamily="34" charset="0"/>
                <a:ea typeface="Arial" pitchFamily="34" charset="-122"/>
                <a:cs typeface="Arial" pitchFamily="34" charset="-120"/>
              </a:rPr>
              <a:t>›</a:t>
            </a:r>
            <a:endParaRPr lang="en-US" sz="2400" dirty="0"/>
          </a:p>
        </p:txBody>
      </p:sp>
      <p:sp>
        <p:nvSpPr>
          <p:cNvPr id="14" name="Shape 12"/>
          <p:cNvSpPr/>
          <p:nvPr/>
        </p:nvSpPr>
        <p:spPr>
          <a:xfrm>
            <a:off x="4279392" y="1737360"/>
            <a:ext cx="1700784" cy="2286000"/>
          </a:xfrm>
          <a:prstGeom prst="roundRect">
            <a:avLst>
              <a:gd name="adj" fmla="val 4301"/>
            </a:avLst>
          </a:prstGeom>
          <a:solidFill>
            <a:srgbClr val="1B2540"/>
          </a:solidFill>
          <a:ln w="12700">
            <a:solidFill>
              <a:srgbClr val="273353"/>
            </a:solidFill>
            <a:prstDash val="solid"/>
          </a:ln>
        </p:spPr>
      </p:sp>
      <p:sp>
        <p:nvSpPr>
          <p:cNvPr id="15" name="Shape 13"/>
          <p:cNvSpPr/>
          <p:nvPr/>
        </p:nvSpPr>
        <p:spPr>
          <a:xfrm>
            <a:off x="4919472" y="2103120"/>
            <a:ext cx="420624" cy="420624"/>
          </a:xfrm>
          <a:prstGeom prst="ellipse">
            <a:avLst/>
          </a:prstGeom>
          <a:solidFill>
            <a:srgbClr val="5B8DEF"/>
          </a:solidFill>
          <a:ln w="12700">
            <a:solidFill>
              <a:srgbClr val="5B8DEF"/>
            </a:solidFill>
            <a:prstDash val="solid"/>
          </a:ln>
        </p:spPr>
      </p:sp>
      <p:sp>
        <p:nvSpPr>
          <p:cNvPr id="16" name="Text 14"/>
          <p:cNvSpPr txBox="1"/>
          <p:nvPr/>
        </p:nvSpPr>
        <p:spPr>
          <a:xfrm>
            <a:off x="4919472" y="2103120"/>
            <a:ext cx="420624" cy="420624"/>
          </a:xfrm>
          <a:prstGeom prst="rect">
            <a:avLst/>
          </a:prstGeom>
          <a:noFill/>
          <a:ln/>
        </p:spPr>
        <p:txBody>
          <a:bodyPr wrap="square" lIns="0" tIns="0" rIns="0" bIns="0" rtlCol="0" anchor="ctr"/>
          <a:lstStyle/>
          <a:p>
            <a:pPr algn="ctr" indent="0" marL="0">
              <a:buNone/>
            </a:pPr>
            <a:r>
              <a:rPr lang="en-US" sz="1600" b="1" dirty="0">
                <a:solidFill>
                  <a:srgbClr val="0E1628"/>
                </a:solidFill>
                <a:latin typeface="Arial" pitchFamily="34" charset="0"/>
                <a:ea typeface="Arial" pitchFamily="34" charset="-122"/>
                <a:cs typeface="Arial" pitchFamily="34" charset="-120"/>
              </a:rPr>
              <a:t>3</a:t>
            </a:r>
            <a:endParaRPr lang="en-US" sz="1600" dirty="0"/>
          </a:p>
        </p:txBody>
      </p:sp>
      <p:sp>
        <p:nvSpPr>
          <p:cNvPr id="17" name="Text 15"/>
          <p:cNvSpPr txBox="1"/>
          <p:nvPr/>
        </p:nvSpPr>
        <p:spPr>
          <a:xfrm>
            <a:off x="4370832" y="2743200"/>
            <a:ext cx="1517904" cy="1005840"/>
          </a:xfrm>
          <a:prstGeom prst="rect">
            <a:avLst/>
          </a:prstGeom>
          <a:noFill/>
          <a:ln/>
        </p:spPr>
        <p:txBody>
          <a:bodyPr wrap="square" lIns="0" tIns="0" rIns="0" bIns="0" rtlCol="0" anchor="ctr"/>
          <a:lstStyle/>
          <a:p>
            <a:pPr algn="ctr" indent="0" marL="0">
              <a:lnSpc>
                <a:spcPts val="1800"/>
              </a:lnSpc>
              <a:buNone/>
            </a:pPr>
            <a:r>
              <a:rPr lang="en-US" sz="1400" b="1" dirty="0">
                <a:solidFill>
                  <a:srgbClr val="FFFFFF"/>
                </a:solidFill>
                <a:latin typeface="Arial" pitchFamily="34" charset="0"/>
                <a:ea typeface="Arial" pitchFamily="34" charset="-122"/>
                <a:cs typeface="Arial" pitchFamily="34" charset="-120"/>
              </a:rPr>
              <a:t>Balanceador</a:t>
            </a:r>
            <a:endParaRPr lang="en-US" sz="1400" dirty="0"/>
          </a:p>
          <a:p>
            <a:pPr algn="ctr" indent="0" marL="0">
              <a:lnSpc>
                <a:spcPts val="1800"/>
              </a:lnSpc>
              <a:buNone/>
            </a:pPr>
            <a:r>
              <a:rPr lang="en-US" sz="1400" b="1" dirty="0">
                <a:solidFill>
                  <a:srgbClr val="FFFFFF"/>
                </a:solidFill>
                <a:latin typeface="Arial" pitchFamily="34" charset="0"/>
                <a:ea typeface="Arial" pitchFamily="34" charset="-122"/>
                <a:cs typeface="Arial" pitchFamily="34" charset="-120"/>
              </a:rPr>
              <a:t>+ API</a:t>
            </a:r>
            <a:endParaRPr lang="en-US" sz="1400" dirty="0"/>
          </a:p>
        </p:txBody>
      </p:sp>
      <p:sp>
        <p:nvSpPr>
          <p:cNvPr id="18" name="Text 16"/>
          <p:cNvSpPr txBox="1"/>
          <p:nvPr/>
        </p:nvSpPr>
        <p:spPr>
          <a:xfrm>
            <a:off x="5980176" y="2606040"/>
            <a:ext cx="201168" cy="548640"/>
          </a:xfrm>
          <a:prstGeom prst="rect">
            <a:avLst/>
          </a:prstGeom>
          <a:noFill/>
          <a:ln/>
        </p:spPr>
        <p:txBody>
          <a:bodyPr wrap="square" lIns="0" tIns="0" rIns="0" bIns="0" rtlCol="0" anchor="ctr"/>
          <a:lstStyle/>
          <a:p>
            <a:pPr algn="ctr" indent="0" marL="0">
              <a:buNone/>
            </a:pPr>
            <a:r>
              <a:rPr lang="en-US" sz="2400" b="1" dirty="0">
                <a:solidFill>
                  <a:srgbClr val="10A37F"/>
                </a:solidFill>
                <a:latin typeface="Arial" pitchFamily="34" charset="0"/>
                <a:ea typeface="Arial" pitchFamily="34" charset="-122"/>
                <a:cs typeface="Arial" pitchFamily="34" charset="-120"/>
              </a:rPr>
              <a:t>›</a:t>
            </a:r>
            <a:endParaRPr lang="en-US" sz="2400" dirty="0"/>
          </a:p>
        </p:txBody>
      </p:sp>
      <p:sp>
        <p:nvSpPr>
          <p:cNvPr id="19" name="Shape 17"/>
          <p:cNvSpPr/>
          <p:nvPr/>
        </p:nvSpPr>
        <p:spPr>
          <a:xfrm>
            <a:off x="6181344" y="1737360"/>
            <a:ext cx="1700784" cy="2286000"/>
          </a:xfrm>
          <a:prstGeom prst="roundRect">
            <a:avLst>
              <a:gd name="adj" fmla="val 4301"/>
            </a:avLst>
          </a:prstGeom>
          <a:solidFill>
            <a:srgbClr val="1B2540"/>
          </a:solidFill>
          <a:ln w="12700">
            <a:solidFill>
              <a:srgbClr val="273353"/>
            </a:solidFill>
            <a:prstDash val="solid"/>
          </a:ln>
        </p:spPr>
      </p:sp>
      <p:sp>
        <p:nvSpPr>
          <p:cNvPr id="20" name="Shape 18"/>
          <p:cNvSpPr/>
          <p:nvPr/>
        </p:nvSpPr>
        <p:spPr>
          <a:xfrm>
            <a:off x="6821424" y="2103120"/>
            <a:ext cx="420624" cy="420624"/>
          </a:xfrm>
          <a:prstGeom prst="ellipse">
            <a:avLst/>
          </a:prstGeom>
          <a:solidFill>
            <a:srgbClr val="5B8DEF"/>
          </a:solidFill>
          <a:ln w="12700">
            <a:solidFill>
              <a:srgbClr val="5B8DEF"/>
            </a:solidFill>
            <a:prstDash val="solid"/>
          </a:ln>
        </p:spPr>
      </p:sp>
      <p:sp>
        <p:nvSpPr>
          <p:cNvPr id="21" name="Text 19"/>
          <p:cNvSpPr txBox="1"/>
          <p:nvPr/>
        </p:nvSpPr>
        <p:spPr>
          <a:xfrm>
            <a:off x="6821424" y="2103120"/>
            <a:ext cx="420624" cy="420624"/>
          </a:xfrm>
          <a:prstGeom prst="rect">
            <a:avLst/>
          </a:prstGeom>
          <a:noFill/>
          <a:ln/>
        </p:spPr>
        <p:txBody>
          <a:bodyPr wrap="square" lIns="0" tIns="0" rIns="0" bIns="0" rtlCol="0" anchor="ctr"/>
          <a:lstStyle/>
          <a:p>
            <a:pPr algn="ctr" indent="0" marL="0">
              <a:buNone/>
            </a:pPr>
            <a:r>
              <a:rPr lang="en-US" sz="1600" b="1" dirty="0">
                <a:solidFill>
                  <a:srgbClr val="0E1628"/>
                </a:solidFill>
                <a:latin typeface="Arial" pitchFamily="34" charset="0"/>
                <a:ea typeface="Arial" pitchFamily="34" charset="-122"/>
                <a:cs typeface="Arial" pitchFamily="34" charset="-120"/>
              </a:rPr>
              <a:t>4</a:t>
            </a:r>
            <a:endParaRPr lang="en-US" sz="1600" dirty="0"/>
          </a:p>
        </p:txBody>
      </p:sp>
      <p:sp>
        <p:nvSpPr>
          <p:cNvPr id="22" name="Text 20"/>
          <p:cNvSpPr txBox="1"/>
          <p:nvPr/>
        </p:nvSpPr>
        <p:spPr>
          <a:xfrm>
            <a:off x="6272784" y="2743200"/>
            <a:ext cx="1517904" cy="1005840"/>
          </a:xfrm>
          <a:prstGeom prst="rect">
            <a:avLst/>
          </a:prstGeom>
          <a:noFill/>
          <a:ln/>
        </p:spPr>
        <p:txBody>
          <a:bodyPr wrap="square" lIns="0" tIns="0" rIns="0" bIns="0" rtlCol="0" anchor="ctr"/>
          <a:lstStyle/>
          <a:p>
            <a:pPr algn="ctr" indent="0" marL="0">
              <a:lnSpc>
                <a:spcPts val="1800"/>
              </a:lnSpc>
              <a:buNone/>
            </a:pPr>
            <a:r>
              <a:rPr lang="en-US" sz="1400" b="1" dirty="0">
                <a:solidFill>
                  <a:srgbClr val="FFFFFF"/>
                </a:solidFill>
                <a:latin typeface="Arial" pitchFamily="34" charset="0"/>
                <a:ea typeface="Arial" pitchFamily="34" charset="-122"/>
                <a:cs typeface="Arial" pitchFamily="34" charset="-120"/>
              </a:rPr>
              <a:t>Tokenización</a:t>
            </a:r>
            <a:endParaRPr lang="en-US" sz="1400" dirty="0"/>
          </a:p>
        </p:txBody>
      </p:sp>
      <p:sp>
        <p:nvSpPr>
          <p:cNvPr id="23" name="Text 21"/>
          <p:cNvSpPr txBox="1"/>
          <p:nvPr/>
        </p:nvSpPr>
        <p:spPr>
          <a:xfrm>
            <a:off x="7882128" y="2606040"/>
            <a:ext cx="201168" cy="548640"/>
          </a:xfrm>
          <a:prstGeom prst="rect">
            <a:avLst/>
          </a:prstGeom>
          <a:noFill/>
          <a:ln/>
        </p:spPr>
        <p:txBody>
          <a:bodyPr wrap="square" lIns="0" tIns="0" rIns="0" bIns="0" rtlCol="0" anchor="ctr"/>
          <a:lstStyle/>
          <a:p>
            <a:pPr algn="ctr" indent="0" marL="0">
              <a:buNone/>
            </a:pPr>
            <a:r>
              <a:rPr lang="en-US" sz="2400" b="1" dirty="0">
                <a:solidFill>
                  <a:srgbClr val="10A37F"/>
                </a:solidFill>
                <a:latin typeface="Arial" pitchFamily="34" charset="0"/>
                <a:ea typeface="Arial" pitchFamily="34" charset="-122"/>
                <a:cs typeface="Arial" pitchFamily="34" charset="-120"/>
              </a:rPr>
              <a:t>›</a:t>
            </a:r>
            <a:endParaRPr lang="en-US" sz="2400" dirty="0"/>
          </a:p>
        </p:txBody>
      </p:sp>
      <p:sp>
        <p:nvSpPr>
          <p:cNvPr id="24" name="Shape 22"/>
          <p:cNvSpPr/>
          <p:nvPr/>
        </p:nvSpPr>
        <p:spPr>
          <a:xfrm>
            <a:off x="8083296" y="1737360"/>
            <a:ext cx="1700784" cy="2286000"/>
          </a:xfrm>
          <a:prstGeom prst="roundRect">
            <a:avLst>
              <a:gd name="adj" fmla="val 4301"/>
            </a:avLst>
          </a:prstGeom>
          <a:solidFill>
            <a:srgbClr val="17402F"/>
          </a:solidFill>
          <a:ln w="19050">
            <a:solidFill>
              <a:srgbClr val="10A37F"/>
            </a:solidFill>
            <a:prstDash val="solid"/>
          </a:ln>
        </p:spPr>
      </p:sp>
      <p:sp>
        <p:nvSpPr>
          <p:cNvPr id="25" name="Shape 23"/>
          <p:cNvSpPr/>
          <p:nvPr/>
        </p:nvSpPr>
        <p:spPr>
          <a:xfrm>
            <a:off x="8723376" y="2103120"/>
            <a:ext cx="420624" cy="420624"/>
          </a:xfrm>
          <a:prstGeom prst="ellipse">
            <a:avLst/>
          </a:prstGeom>
          <a:solidFill>
            <a:srgbClr val="10A37F"/>
          </a:solidFill>
          <a:ln w="12700">
            <a:solidFill>
              <a:srgbClr val="10A37F"/>
            </a:solidFill>
            <a:prstDash val="solid"/>
          </a:ln>
        </p:spPr>
      </p:sp>
      <p:sp>
        <p:nvSpPr>
          <p:cNvPr id="26" name="Text 24"/>
          <p:cNvSpPr txBox="1"/>
          <p:nvPr/>
        </p:nvSpPr>
        <p:spPr>
          <a:xfrm>
            <a:off x="8723376" y="2103120"/>
            <a:ext cx="420624" cy="420624"/>
          </a:xfrm>
          <a:prstGeom prst="rect">
            <a:avLst/>
          </a:prstGeom>
          <a:noFill/>
          <a:ln/>
        </p:spPr>
        <p:txBody>
          <a:bodyPr wrap="square" lIns="0" tIns="0" rIns="0" bIns="0" rtlCol="0" anchor="ctr"/>
          <a:lstStyle/>
          <a:p>
            <a:pPr algn="ctr" indent="0" marL="0">
              <a:buNone/>
            </a:pPr>
            <a:r>
              <a:rPr lang="en-US" sz="1600" b="1" dirty="0">
                <a:solidFill>
                  <a:srgbClr val="0E1628"/>
                </a:solidFill>
                <a:latin typeface="Arial" pitchFamily="34" charset="0"/>
                <a:ea typeface="Arial" pitchFamily="34" charset="-122"/>
                <a:cs typeface="Arial" pitchFamily="34" charset="-120"/>
              </a:rPr>
              <a:t>5</a:t>
            </a:r>
            <a:endParaRPr lang="en-US" sz="1600" dirty="0"/>
          </a:p>
        </p:txBody>
      </p:sp>
      <p:sp>
        <p:nvSpPr>
          <p:cNvPr id="27" name="Text 25"/>
          <p:cNvSpPr txBox="1"/>
          <p:nvPr/>
        </p:nvSpPr>
        <p:spPr>
          <a:xfrm>
            <a:off x="8174736" y="2743200"/>
            <a:ext cx="1517904" cy="1005840"/>
          </a:xfrm>
          <a:prstGeom prst="rect">
            <a:avLst/>
          </a:prstGeom>
          <a:noFill/>
          <a:ln/>
        </p:spPr>
        <p:txBody>
          <a:bodyPr wrap="square" lIns="0" tIns="0" rIns="0" bIns="0" rtlCol="0" anchor="ctr"/>
          <a:lstStyle/>
          <a:p>
            <a:pPr algn="ctr" indent="0" marL="0">
              <a:lnSpc>
                <a:spcPts val="1800"/>
              </a:lnSpc>
              <a:buNone/>
            </a:pPr>
            <a:r>
              <a:rPr lang="en-US" sz="1400" b="1" dirty="0">
                <a:solidFill>
                  <a:srgbClr val="10A37F"/>
                </a:solidFill>
                <a:latin typeface="Arial" pitchFamily="34" charset="0"/>
                <a:ea typeface="Arial" pitchFamily="34" charset="-122"/>
                <a:cs typeface="Arial" pitchFamily="34" charset="-120"/>
              </a:rPr>
              <a:t>Modelo</a:t>
            </a:r>
            <a:endParaRPr lang="en-US" sz="1400" dirty="0"/>
          </a:p>
          <a:p>
            <a:pPr algn="ctr" indent="0" marL="0">
              <a:lnSpc>
                <a:spcPts val="1800"/>
              </a:lnSpc>
              <a:buNone/>
            </a:pPr>
            <a:r>
              <a:rPr lang="en-US" sz="1400" b="1" dirty="0">
                <a:solidFill>
                  <a:srgbClr val="10A37F"/>
                </a:solidFill>
                <a:latin typeface="Arial" pitchFamily="34" charset="0"/>
                <a:ea typeface="Arial" pitchFamily="34" charset="-122"/>
                <a:cs typeface="Arial" pitchFamily="34" charset="-120"/>
              </a:rPr>
              <a:t>en GPUs</a:t>
            </a:r>
            <a:endParaRPr lang="en-US" sz="1400" dirty="0"/>
          </a:p>
        </p:txBody>
      </p:sp>
      <p:sp>
        <p:nvSpPr>
          <p:cNvPr id="28" name="Text 26"/>
          <p:cNvSpPr txBox="1"/>
          <p:nvPr/>
        </p:nvSpPr>
        <p:spPr>
          <a:xfrm>
            <a:off x="9784080" y="2606040"/>
            <a:ext cx="201168" cy="548640"/>
          </a:xfrm>
          <a:prstGeom prst="rect">
            <a:avLst/>
          </a:prstGeom>
          <a:noFill/>
          <a:ln/>
        </p:spPr>
        <p:txBody>
          <a:bodyPr wrap="square" lIns="0" tIns="0" rIns="0" bIns="0" rtlCol="0" anchor="ctr"/>
          <a:lstStyle/>
          <a:p>
            <a:pPr algn="ctr" indent="0" marL="0">
              <a:buNone/>
            </a:pPr>
            <a:r>
              <a:rPr lang="en-US" sz="2400" b="1" dirty="0">
                <a:solidFill>
                  <a:srgbClr val="10A37F"/>
                </a:solidFill>
                <a:latin typeface="Arial" pitchFamily="34" charset="0"/>
                <a:ea typeface="Arial" pitchFamily="34" charset="-122"/>
                <a:cs typeface="Arial" pitchFamily="34" charset="-120"/>
              </a:rPr>
              <a:t>›</a:t>
            </a:r>
            <a:endParaRPr lang="en-US" sz="2400" dirty="0"/>
          </a:p>
        </p:txBody>
      </p:sp>
      <p:sp>
        <p:nvSpPr>
          <p:cNvPr id="29" name="Shape 27"/>
          <p:cNvSpPr/>
          <p:nvPr/>
        </p:nvSpPr>
        <p:spPr>
          <a:xfrm>
            <a:off x="9985248" y="1737360"/>
            <a:ext cx="1700784" cy="2286000"/>
          </a:xfrm>
          <a:prstGeom prst="roundRect">
            <a:avLst>
              <a:gd name="adj" fmla="val 4301"/>
            </a:avLst>
          </a:prstGeom>
          <a:solidFill>
            <a:srgbClr val="1B2540"/>
          </a:solidFill>
          <a:ln w="12700">
            <a:solidFill>
              <a:srgbClr val="273353"/>
            </a:solidFill>
            <a:prstDash val="solid"/>
          </a:ln>
        </p:spPr>
      </p:sp>
      <p:sp>
        <p:nvSpPr>
          <p:cNvPr id="30" name="Shape 28"/>
          <p:cNvSpPr/>
          <p:nvPr/>
        </p:nvSpPr>
        <p:spPr>
          <a:xfrm>
            <a:off x="10625328" y="2103120"/>
            <a:ext cx="420624" cy="420624"/>
          </a:xfrm>
          <a:prstGeom prst="ellipse">
            <a:avLst/>
          </a:prstGeom>
          <a:solidFill>
            <a:srgbClr val="5B8DEF"/>
          </a:solidFill>
          <a:ln w="12700">
            <a:solidFill>
              <a:srgbClr val="5B8DEF"/>
            </a:solidFill>
            <a:prstDash val="solid"/>
          </a:ln>
        </p:spPr>
      </p:sp>
      <p:sp>
        <p:nvSpPr>
          <p:cNvPr id="31" name="Text 29"/>
          <p:cNvSpPr txBox="1"/>
          <p:nvPr/>
        </p:nvSpPr>
        <p:spPr>
          <a:xfrm>
            <a:off x="10625328" y="2103120"/>
            <a:ext cx="420624" cy="420624"/>
          </a:xfrm>
          <a:prstGeom prst="rect">
            <a:avLst/>
          </a:prstGeom>
          <a:noFill/>
          <a:ln/>
        </p:spPr>
        <p:txBody>
          <a:bodyPr wrap="square" lIns="0" tIns="0" rIns="0" bIns="0" rtlCol="0" anchor="ctr"/>
          <a:lstStyle/>
          <a:p>
            <a:pPr algn="ctr" indent="0" marL="0">
              <a:buNone/>
            </a:pPr>
            <a:r>
              <a:rPr lang="en-US" sz="1600" b="1" dirty="0">
                <a:solidFill>
                  <a:srgbClr val="0E1628"/>
                </a:solidFill>
                <a:latin typeface="Arial" pitchFamily="34" charset="0"/>
                <a:ea typeface="Arial" pitchFamily="34" charset="-122"/>
                <a:cs typeface="Arial" pitchFamily="34" charset="-120"/>
              </a:rPr>
              <a:t>6</a:t>
            </a:r>
            <a:endParaRPr lang="en-US" sz="1600" dirty="0"/>
          </a:p>
        </p:txBody>
      </p:sp>
      <p:sp>
        <p:nvSpPr>
          <p:cNvPr id="32" name="Text 30"/>
          <p:cNvSpPr txBox="1"/>
          <p:nvPr/>
        </p:nvSpPr>
        <p:spPr>
          <a:xfrm>
            <a:off x="10076688" y="2743200"/>
            <a:ext cx="1517904" cy="1005840"/>
          </a:xfrm>
          <a:prstGeom prst="rect">
            <a:avLst/>
          </a:prstGeom>
          <a:noFill/>
          <a:ln/>
        </p:spPr>
        <p:txBody>
          <a:bodyPr wrap="square" lIns="0" tIns="0" rIns="0" bIns="0" rtlCol="0" anchor="ctr"/>
          <a:lstStyle/>
          <a:p>
            <a:pPr algn="ctr" indent="0" marL="0">
              <a:lnSpc>
                <a:spcPts val="1800"/>
              </a:lnSpc>
              <a:buNone/>
            </a:pPr>
            <a:r>
              <a:rPr lang="en-US" sz="1400" b="1" dirty="0">
                <a:solidFill>
                  <a:srgbClr val="FFFFFF"/>
                </a:solidFill>
                <a:latin typeface="Arial" pitchFamily="34" charset="0"/>
                <a:ea typeface="Arial" pitchFamily="34" charset="-122"/>
                <a:cs typeface="Arial" pitchFamily="34" charset="-120"/>
              </a:rPr>
              <a:t>Streaming</a:t>
            </a:r>
            <a:endParaRPr lang="en-US" sz="1400" dirty="0"/>
          </a:p>
        </p:txBody>
      </p:sp>
      <p:sp>
        <p:nvSpPr>
          <p:cNvPr id="33" name="Shape 31"/>
          <p:cNvSpPr/>
          <p:nvPr/>
        </p:nvSpPr>
        <p:spPr>
          <a:xfrm>
            <a:off x="475488" y="4343400"/>
            <a:ext cx="11237976" cy="822960"/>
          </a:xfrm>
          <a:prstGeom prst="roundRect">
            <a:avLst>
              <a:gd name="adj" fmla="val 11111"/>
            </a:avLst>
          </a:prstGeom>
          <a:solidFill>
            <a:srgbClr val="273353"/>
          </a:solidFill>
          <a:ln w="19050">
            <a:solidFill>
              <a:srgbClr val="E8B04B"/>
            </a:solidFill>
            <a:prstDash val="solid"/>
          </a:ln>
        </p:spPr>
      </p:sp>
      <p:sp>
        <p:nvSpPr>
          <p:cNvPr id="34" name="Text 32"/>
          <p:cNvSpPr txBox="1"/>
          <p:nvPr/>
        </p:nvSpPr>
        <p:spPr>
          <a:xfrm>
            <a:off x="475488" y="4343400"/>
            <a:ext cx="11237976" cy="822960"/>
          </a:xfrm>
          <a:prstGeom prst="rect">
            <a:avLst/>
          </a:prstGeom>
          <a:noFill/>
          <a:ln/>
        </p:spPr>
        <p:txBody>
          <a:bodyPr wrap="square" lIns="0" tIns="0" rIns="0" bIns="0" rtlCol="0" anchor="ctr"/>
          <a:lstStyle/>
          <a:p>
            <a:pPr algn="ctr" indent="0" marL="0">
              <a:buNone/>
            </a:pPr>
            <a:r>
              <a:rPr lang="en-US" sz="1800" b="1" dirty="0">
                <a:solidFill>
                  <a:srgbClr val="E8B04B"/>
                </a:solidFill>
                <a:latin typeface="Arial" pitchFamily="34" charset="0"/>
                <a:ea typeface="Arial" pitchFamily="34" charset="-122"/>
                <a:cs typeface="Arial" pitchFamily="34" charset="-120"/>
              </a:rPr>
              <a:t>↺   se repite una vez por cada token de la respuesta</a:t>
            </a:r>
            <a:endParaRPr lang="en-US" sz="1800" dirty="0"/>
          </a:p>
        </p:txBody>
      </p:sp>
      <p:sp>
        <p:nvSpPr>
          <p:cNvPr id="35" name="Text 33"/>
          <p:cNvSpPr txBox="1"/>
          <p:nvPr/>
        </p:nvSpPr>
        <p:spPr>
          <a:xfrm>
            <a:off x="475488" y="5486400"/>
            <a:ext cx="11237976" cy="310896"/>
          </a:xfrm>
          <a:prstGeom prst="rect">
            <a:avLst/>
          </a:prstGeom>
          <a:noFill/>
          <a:ln/>
        </p:spPr>
        <p:txBody>
          <a:bodyPr wrap="square" lIns="0" tIns="0" rIns="0" bIns="0" rtlCol="0" anchor="ctr"/>
          <a:lstStyle/>
          <a:p>
            <a:pPr algn="ctr" indent="0" marL="0">
              <a:buNone/>
            </a:pPr>
            <a:r>
              <a:rPr lang="en-US" sz="1500" b="1" dirty="0">
                <a:solidFill>
                  <a:srgbClr val="A9B4CC"/>
                </a:solidFill>
                <a:latin typeface="Arial" pitchFamily="34" charset="0"/>
                <a:ea typeface="Arial" pitchFamily="34" charset="-122"/>
                <a:cs typeface="Arial" pitchFamily="34" charset="-120"/>
              </a:rPr>
              <a:t>el modelo solo está en el paso 5</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628"/>
        </a:solidFill>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oundRect">
            <a:avLst>
              <a:gd name="adj" fmla="val 37500"/>
            </a:avLst>
          </a:prstGeom>
          <a:solidFill>
            <a:srgbClr val="10A37F"/>
          </a:solidFill>
          <a:ln w="12700">
            <a:solidFill>
              <a:srgbClr val="10A37F"/>
            </a:solidFill>
            <a:prstDash val="solid"/>
          </a:ln>
        </p:spPr>
      </p:sp>
      <p:sp>
        <p:nvSpPr>
          <p:cNvPr id="3" name="Text 1"/>
          <p:cNvSpPr txBox="1"/>
          <p:nvPr/>
        </p:nvSpPr>
        <p:spPr>
          <a:xfrm>
            <a:off x="731520" y="310896"/>
            <a:ext cx="10881360" cy="621792"/>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Procesos e hilos</a:t>
            </a:r>
            <a:endParaRPr lang="en-US" sz="3200" dirty="0"/>
          </a:p>
        </p:txBody>
      </p:sp>
      <p:sp>
        <p:nvSpPr>
          <p:cNvPr id="4" name="Shape 2"/>
          <p:cNvSpPr/>
          <p:nvPr/>
        </p:nvSpPr>
        <p:spPr>
          <a:xfrm>
            <a:off x="457200" y="1280160"/>
            <a:ext cx="5532120" cy="4846320"/>
          </a:xfrm>
          <a:prstGeom prst="roundRect">
            <a:avLst>
              <a:gd name="adj" fmla="val 1509"/>
            </a:avLst>
          </a:prstGeom>
          <a:solidFill>
            <a:srgbClr val="1B2540"/>
          </a:solidFill>
          <a:ln w="12700">
            <a:solidFill>
              <a:srgbClr val="273353"/>
            </a:solidFill>
            <a:prstDash val="solid"/>
          </a:ln>
        </p:spPr>
      </p:sp>
      <p:sp>
        <p:nvSpPr>
          <p:cNvPr id="5" name="Text 3"/>
          <p:cNvSpPr txBox="1"/>
          <p:nvPr/>
        </p:nvSpPr>
        <p:spPr>
          <a:xfrm>
            <a:off x="457200" y="1508760"/>
            <a:ext cx="5532120" cy="310896"/>
          </a:xfrm>
          <a:prstGeom prst="rect">
            <a:avLst/>
          </a:prstGeom>
          <a:noFill/>
          <a:ln/>
        </p:spPr>
        <p:txBody>
          <a:bodyPr wrap="square" lIns="0" tIns="0" rIns="0" bIns="0" rtlCol="0" anchor="ctr"/>
          <a:lstStyle/>
          <a:p>
            <a:pPr algn="ctr" indent="0" marL="0">
              <a:buNone/>
            </a:pPr>
            <a:r>
              <a:rPr lang="en-US" sz="1300" b="1" dirty="0">
                <a:solidFill>
                  <a:srgbClr val="5B8DEF"/>
                </a:solidFill>
                <a:latin typeface="Arial" pitchFamily="34" charset="0"/>
                <a:ea typeface="Arial" pitchFamily="34" charset="-122"/>
                <a:cs typeface="Arial" pitchFamily="34" charset="-120"/>
              </a:rPr>
              <a:t>PROCESOS</a:t>
            </a:r>
            <a:endParaRPr lang="en-US" sz="1300" dirty="0"/>
          </a:p>
        </p:txBody>
      </p:sp>
      <p:sp>
        <p:nvSpPr>
          <p:cNvPr id="6" name="Text 4"/>
          <p:cNvSpPr txBox="1"/>
          <p:nvPr/>
        </p:nvSpPr>
        <p:spPr>
          <a:xfrm>
            <a:off x="457200" y="1810512"/>
            <a:ext cx="5532120" cy="310896"/>
          </a:xfrm>
          <a:prstGeom prst="rect">
            <a:avLst/>
          </a:prstGeom>
          <a:noFill/>
          <a:ln/>
        </p:spPr>
        <p:txBody>
          <a:bodyPr wrap="square" lIns="0" tIns="0" rIns="0" bIns="0" rtlCol="0" anchor="ctr"/>
          <a:lstStyle/>
          <a:p>
            <a:pPr algn="ctr" indent="0" marL="0">
              <a:buNone/>
            </a:pPr>
            <a:r>
              <a:rPr lang="en-US" sz="1100" b="1" dirty="0">
                <a:solidFill>
                  <a:srgbClr val="A9B4CC"/>
                </a:solidFill>
                <a:latin typeface="Arial" pitchFamily="34" charset="0"/>
                <a:ea typeface="Arial" pitchFamily="34" charset="-122"/>
                <a:cs typeface="Arial" pitchFamily="34" charset="-120"/>
              </a:rPr>
              <a:t>memoria separada · máquinas distintas</a:t>
            </a:r>
            <a:endParaRPr lang="en-US" sz="1100" dirty="0"/>
          </a:p>
        </p:txBody>
      </p:sp>
      <p:sp>
        <p:nvSpPr>
          <p:cNvPr id="7" name="Shape 5"/>
          <p:cNvSpPr/>
          <p:nvPr/>
        </p:nvSpPr>
        <p:spPr>
          <a:xfrm>
            <a:off x="822960" y="2286000"/>
            <a:ext cx="4800600" cy="749808"/>
          </a:xfrm>
          <a:prstGeom prst="roundRect">
            <a:avLst>
              <a:gd name="adj" fmla="val 7317"/>
            </a:avLst>
          </a:prstGeom>
          <a:solidFill>
            <a:srgbClr val="273353"/>
          </a:solidFill>
          <a:ln w="12700">
            <a:solidFill>
              <a:srgbClr val="5B8DEF"/>
            </a:solidFill>
            <a:prstDash val="solid"/>
          </a:ln>
        </p:spPr>
      </p:sp>
      <p:sp>
        <p:nvSpPr>
          <p:cNvPr id="8" name="Text 6"/>
          <p:cNvSpPr txBox="1"/>
          <p:nvPr/>
        </p:nvSpPr>
        <p:spPr>
          <a:xfrm>
            <a:off x="822960" y="2286000"/>
            <a:ext cx="4800600" cy="74980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Servidor web / API</a:t>
            </a:r>
            <a:endParaRPr lang="en-US" sz="1400" dirty="0"/>
          </a:p>
        </p:txBody>
      </p:sp>
      <p:sp>
        <p:nvSpPr>
          <p:cNvPr id="9" name="Shape 7"/>
          <p:cNvSpPr/>
          <p:nvPr/>
        </p:nvSpPr>
        <p:spPr>
          <a:xfrm>
            <a:off x="822960" y="3218688"/>
            <a:ext cx="4800600" cy="749808"/>
          </a:xfrm>
          <a:prstGeom prst="roundRect">
            <a:avLst>
              <a:gd name="adj" fmla="val 7317"/>
            </a:avLst>
          </a:prstGeom>
          <a:solidFill>
            <a:srgbClr val="273353"/>
          </a:solidFill>
          <a:ln w="12700">
            <a:solidFill>
              <a:srgbClr val="5B8DEF"/>
            </a:solidFill>
            <a:prstDash val="solid"/>
          </a:ln>
        </p:spPr>
      </p:sp>
      <p:sp>
        <p:nvSpPr>
          <p:cNvPr id="10" name="Text 8"/>
          <p:cNvSpPr txBox="1"/>
          <p:nvPr/>
        </p:nvSpPr>
        <p:spPr>
          <a:xfrm>
            <a:off x="822960" y="3218688"/>
            <a:ext cx="4800600" cy="74980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Moderación</a:t>
            </a:r>
            <a:endParaRPr lang="en-US" sz="1400" dirty="0"/>
          </a:p>
        </p:txBody>
      </p:sp>
      <p:sp>
        <p:nvSpPr>
          <p:cNvPr id="11" name="Shape 9"/>
          <p:cNvSpPr/>
          <p:nvPr/>
        </p:nvSpPr>
        <p:spPr>
          <a:xfrm>
            <a:off x="822960" y="4151376"/>
            <a:ext cx="4800600" cy="749808"/>
          </a:xfrm>
          <a:prstGeom prst="roundRect">
            <a:avLst>
              <a:gd name="adj" fmla="val 7317"/>
            </a:avLst>
          </a:prstGeom>
          <a:solidFill>
            <a:srgbClr val="273353"/>
          </a:solidFill>
          <a:ln w="12700">
            <a:solidFill>
              <a:srgbClr val="5B8DEF"/>
            </a:solidFill>
            <a:prstDash val="solid"/>
          </a:ln>
        </p:spPr>
      </p:sp>
      <p:sp>
        <p:nvSpPr>
          <p:cNvPr id="12" name="Text 10"/>
          <p:cNvSpPr txBox="1"/>
          <p:nvPr/>
        </p:nvSpPr>
        <p:spPr>
          <a:xfrm>
            <a:off x="822960" y="4151376"/>
            <a:ext cx="4800600" cy="74980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Motor de inferencia</a:t>
            </a:r>
            <a:endParaRPr lang="en-US" sz="1400" dirty="0"/>
          </a:p>
        </p:txBody>
      </p:sp>
      <p:sp>
        <p:nvSpPr>
          <p:cNvPr id="13" name="Shape 11"/>
          <p:cNvSpPr/>
          <p:nvPr/>
        </p:nvSpPr>
        <p:spPr>
          <a:xfrm>
            <a:off x="822960" y="5084064"/>
            <a:ext cx="4800600" cy="749808"/>
          </a:xfrm>
          <a:prstGeom prst="roundRect">
            <a:avLst>
              <a:gd name="adj" fmla="val 7317"/>
            </a:avLst>
          </a:prstGeom>
          <a:solidFill>
            <a:srgbClr val="273353"/>
          </a:solidFill>
          <a:ln w="12700">
            <a:solidFill>
              <a:srgbClr val="5B8DEF"/>
            </a:solidFill>
            <a:prstDash val="solid"/>
          </a:ln>
        </p:spPr>
      </p:sp>
      <p:sp>
        <p:nvSpPr>
          <p:cNvPr id="14" name="Text 12"/>
          <p:cNvSpPr txBox="1"/>
          <p:nvPr/>
        </p:nvSpPr>
        <p:spPr>
          <a:xfrm>
            <a:off x="822960" y="5084064"/>
            <a:ext cx="4800600" cy="74980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Base de datos</a:t>
            </a:r>
            <a:endParaRPr lang="en-US" sz="1400" dirty="0"/>
          </a:p>
        </p:txBody>
      </p:sp>
      <p:sp>
        <p:nvSpPr>
          <p:cNvPr id="15" name="Shape 13"/>
          <p:cNvSpPr/>
          <p:nvPr/>
        </p:nvSpPr>
        <p:spPr>
          <a:xfrm>
            <a:off x="6217920" y="1280160"/>
            <a:ext cx="5513832" cy="4846320"/>
          </a:xfrm>
          <a:prstGeom prst="roundRect">
            <a:avLst>
              <a:gd name="adj" fmla="val 1509"/>
            </a:avLst>
          </a:prstGeom>
          <a:solidFill>
            <a:srgbClr val="1B2540"/>
          </a:solidFill>
          <a:ln w="12700">
            <a:solidFill>
              <a:srgbClr val="273353"/>
            </a:solidFill>
            <a:prstDash val="solid"/>
          </a:ln>
        </p:spPr>
      </p:sp>
      <p:sp>
        <p:nvSpPr>
          <p:cNvPr id="16" name="Text 14"/>
          <p:cNvSpPr txBox="1"/>
          <p:nvPr/>
        </p:nvSpPr>
        <p:spPr>
          <a:xfrm>
            <a:off x="6217920" y="1508760"/>
            <a:ext cx="5513832" cy="310896"/>
          </a:xfrm>
          <a:prstGeom prst="rect">
            <a:avLst/>
          </a:prstGeom>
          <a:noFill/>
          <a:ln/>
        </p:spPr>
        <p:txBody>
          <a:bodyPr wrap="square" lIns="0" tIns="0" rIns="0" bIns="0" rtlCol="0" anchor="ctr"/>
          <a:lstStyle/>
          <a:p>
            <a:pPr algn="ctr" indent="0" marL="0">
              <a:buNone/>
            </a:pPr>
            <a:r>
              <a:rPr lang="en-US" sz="1300" b="1" dirty="0">
                <a:solidFill>
                  <a:srgbClr val="10A37F"/>
                </a:solidFill>
                <a:latin typeface="Arial" pitchFamily="34" charset="0"/>
                <a:ea typeface="Arial" pitchFamily="34" charset="-122"/>
                <a:cs typeface="Arial" pitchFamily="34" charset="-120"/>
              </a:rPr>
              <a:t>HILOS</a:t>
            </a:r>
            <a:endParaRPr lang="en-US" sz="1300" dirty="0"/>
          </a:p>
        </p:txBody>
      </p:sp>
      <p:sp>
        <p:nvSpPr>
          <p:cNvPr id="17" name="Text 15"/>
          <p:cNvSpPr txBox="1"/>
          <p:nvPr/>
        </p:nvSpPr>
        <p:spPr>
          <a:xfrm>
            <a:off x="6217920" y="1810512"/>
            <a:ext cx="5513832" cy="310896"/>
          </a:xfrm>
          <a:prstGeom prst="rect">
            <a:avLst/>
          </a:prstGeom>
          <a:noFill/>
          <a:ln/>
        </p:spPr>
        <p:txBody>
          <a:bodyPr wrap="square" lIns="0" tIns="0" rIns="0" bIns="0" rtlCol="0" anchor="ctr"/>
          <a:lstStyle/>
          <a:p>
            <a:pPr algn="ctr" indent="0" marL="0">
              <a:buNone/>
            </a:pPr>
            <a:r>
              <a:rPr lang="en-US" sz="1100" b="1" dirty="0">
                <a:solidFill>
                  <a:srgbClr val="A9B4CC"/>
                </a:solidFill>
                <a:latin typeface="Arial" pitchFamily="34" charset="0"/>
                <a:ea typeface="Arial" pitchFamily="34" charset="-122"/>
                <a:cs typeface="Arial" pitchFamily="34" charset="-120"/>
              </a:rPr>
              <a:t>dentro de UN proceso · memoria compartida</a:t>
            </a:r>
            <a:endParaRPr lang="en-US" sz="1100" dirty="0"/>
          </a:p>
        </p:txBody>
      </p:sp>
      <p:sp>
        <p:nvSpPr>
          <p:cNvPr id="18" name="Shape 16"/>
          <p:cNvSpPr/>
          <p:nvPr/>
        </p:nvSpPr>
        <p:spPr>
          <a:xfrm>
            <a:off x="6537960" y="2240280"/>
            <a:ext cx="4892040" cy="3611880"/>
          </a:xfrm>
          <a:prstGeom prst="roundRect">
            <a:avLst>
              <a:gd name="adj" fmla="val 2025"/>
            </a:avLst>
          </a:prstGeom>
          <a:solidFill>
            <a:srgbClr val="12203A"/>
          </a:solidFill>
          <a:ln w="19050">
            <a:solidFill>
              <a:srgbClr val="10A37F"/>
            </a:solidFill>
            <a:prstDash val="solid"/>
          </a:ln>
        </p:spPr>
      </p:sp>
      <p:sp>
        <p:nvSpPr>
          <p:cNvPr id="19" name="Text 17"/>
          <p:cNvSpPr txBox="1"/>
          <p:nvPr/>
        </p:nvSpPr>
        <p:spPr>
          <a:xfrm>
            <a:off x="6537960" y="2395728"/>
            <a:ext cx="4892040" cy="310896"/>
          </a:xfrm>
          <a:prstGeom prst="rect">
            <a:avLst/>
          </a:prstGeom>
          <a:noFill/>
          <a:ln/>
        </p:spPr>
        <p:txBody>
          <a:bodyPr wrap="square" lIns="0" tIns="0" rIns="0" bIns="0" rtlCol="0" anchor="ctr"/>
          <a:lstStyle/>
          <a:p>
            <a:pPr algn="ctr" indent="0" marL="0">
              <a:buNone/>
            </a:pPr>
            <a:r>
              <a:rPr lang="en-US" sz="1300" b="1" dirty="0">
                <a:solidFill>
                  <a:srgbClr val="10A37F"/>
                </a:solidFill>
                <a:latin typeface="Arial" pitchFamily="34" charset="0"/>
                <a:ea typeface="Arial" pitchFamily="34" charset="-122"/>
                <a:cs typeface="Arial" pitchFamily="34" charset="-120"/>
              </a:rPr>
              <a:t>Motor de inferencia</a:t>
            </a:r>
            <a:endParaRPr lang="en-US" sz="1300" dirty="0"/>
          </a:p>
        </p:txBody>
      </p:sp>
      <p:sp>
        <p:nvSpPr>
          <p:cNvPr id="20" name="Shape 18"/>
          <p:cNvSpPr/>
          <p:nvPr/>
        </p:nvSpPr>
        <p:spPr>
          <a:xfrm>
            <a:off x="6858000" y="2880360"/>
            <a:ext cx="4251960" cy="438912"/>
          </a:xfrm>
          <a:prstGeom prst="roundRect">
            <a:avLst>
              <a:gd name="adj" fmla="val 10417"/>
            </a:avLst>
          </a:prstGeom>
          <a:solidFill>
            <a:srgbClr val="273353"/>
          </a:solidFill>
          <a:ln w="12700">
            <a:solidFill>
              <a:srgbClr val="273353"/>
            </a:solidFill>
            <a:prstDash val="solid"/>
          </a:ln>
        </p:spPr>
      </p:sp>
      <p:sp>
        <p:nvSpPr>
          <p:cNvPr id="21" name="Shape 19"/>
          <p:cNvSpPr/>
          <p:nvPr/>
        </p:nvSpPr>
        <p:spPr>
          <a:xfrm>
            <a:off x="6858000" y="2880360"/>
            <a:ext cx="91440" cy="438912"/>
          </a:xfrm>
          <a:prstGeom prst="rect">
            <a:avLst/>
          </a:prstGeom>
          <a:solidFill>
            <a:srgbClr val="10A37F"/>
          </a:solidFill>
          <a:ln w="12700">
            <a:solidFill>
              <a:srgbClr val="10A37F"/>
            </a:solidFill>
            <a:prstDash val="solid"/>
          </a:ln>
        </p:spPr>
      </p:sp>
      <p:sp>
        <p:nvSpPr>
          <p:cNvPr id="22" name="Text 20"/>
          <p:cNvSpPr txBox="1"/>
          <p:nvPr/>
        </p:nvSpPr>
        <p:spPr>
          <a:xfrm>
            <a:off x="6858000" y="2880360"/>
            <a:ext cx="4251960" cy="438912"/>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red / streaming</a:t>
            </a:r>
            <a:endParaRPr lang="en-US" sz="1300" dirty="0"/>
          </a:p>
        </p:txBody>
      </p:sp>
      <p:sp>
        <p:nvSpPr>
          <p:cNvPr id="23" name="Shape 21"/>
          <p:cNvSpPr/>
          <p:nvPr/>
        </p:nvSpPr>
        <p:spPr>
          <a:xfrm>
            <a:off x="6858000" y="3447288"/>
            <a:ext cx="4251960" cy="438912"/>
          </a:xfrm>
          <a:prstGeom prst="roundRect">
            <a:avLst>
              <a:gd name="adj" fmla="val 10417"/>
            </a:avLst>
          </a:prstGeom>
          <a:solidFill>
            <a:srgbClr val="273353"/>
          </a:solidFill>
          <a:ln w="12700">
            <a:solidFill>
              <a:srgbClr val="273353"/>
            </a:solidFill>
            <a:prstDash val="solid"/>
          </a:ln>
        </p:spPr>
      </p:sp>
      <p:sp>
        <p:nvSpPr>
          <p:cNvPr id="24" name="Shape 22"/>
          <p:cNvSpPr/>
          <p:nvPr/>
        </p:nvSpPr>
        <p:spPr>
          <a:xfrm>
            <a:off x="6858000" y="3447288"/>
            <a:ext cx="91440" cy="438912"/>
          </a:xfrm>
          <a:prstGeom prst="rect">
            <a:avLst/>
          </a:prstGeom>
          <a:solidFill>
            <a:srgbClr val="10A37F"/>
          </a:solidFill>
          <a:ln w="12700">
            <a:solidFill>
              <a:srgbClr val="10A37F"/>
            </a:solidFill>
            <a:prstDash val="solid"/>
          </a:ln>
        </p:spPr>
      </p:sp>
      <p:sp>
        <p:nvSpPr>
          <p:cNvPr id="25" name="Text 23"/>
          <p:cNvSpPr txBox="1"/>
          <p:nvPr/>
        </p:nvSpPr>
        <p:spPr>
          <a:xfrm>
            <a:off x="6858000" y="3447288"/>
            <a:ext cx="4251960" cy="438912"/>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tokenizar</a:t>
            </a:r>
            <a:endParaRPr lang="en-US" sz="1300" dirty="0"/>
          </a:p>
        </p:txBody>
      </p:sp>
      <p:sp>
        <p:nvSpPr>
          <p:cNvPr id="26" name="Shape 24"/>
          <p:cNvSpPr/>
          <p:nvPr/>
        </p:nvSpPr>
        <p:spPr>
          <a:xfrm>
            <a:off x="6858000" y="4014216"/>
            <a:ext cx="4251960" cy="438912"/>
          </a:xfrm>
          <a:prstGeom prst="roundRect">
            <a:avLst>
              <a:gd name="adj" fmla="val 10417"/>
            </a:avLst>
          </a:prstGeom>
          <a:solidFill>
            <a:srgbClr val="273353"/>
          </a:solidFill>
          <a:ln w="12700">
            <a:solidFill>
              <a:srgbClr val="273353"/>
            </a:solidFill>
            <a:prstDash val="solid"/>
          </a:ln>
        </p:spPr>
      </p:sp>
      <p:sp>
        <p:nvSpPr>
          <p:cNvPr id="27" name="Shape 25"/>
          <p:cNvSpPr/>
          <p:nvPr/>
        </p:nvSpPr>
        <p:spPr>
          <a:xfrm>
            <a:off x="6858000" y="4014216"/>
            <a:ext cx="91440" cy="438912"/>
          </a:xfrm>
          <a:prstGeom prst="rect">
            <a:avLst/>
          </a:prstGeom>
          <a:solidFill>
            <a:srgbClr val="10A37F"/>
          </a:solidFill>
          <a:ln w="12700">
            <a:solidFill>
              <a:srgbClr val="10A37F"/>
            </a:solidFill>
            <a:prstDash val="solid"/>
          </a:ln>
        </p:spPr>
      </p:sp>
      <p:sp>
        <p:nvSpPr>
          <p:cNvPr id="28" name="Text 26"/>
          <p:cNvSpPr txBox="1"/>
          <p:nvPr/>
        </p:nvSpPr>
        <p:spPr>
          <a:xfrm>
            <a:off x="6858000" y="4014216"/>
            <a:ext cx="4251960" cy="438912"/>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copiar a GPU</a:t>
            </a:r>
            <a:endParaRPr lang="en-US" sz="1300" dirty="0"/>
          </a:p>
        </p:txBody>
      </p:sp>
      <p:sp>
        <p:nvSpPr>
          <p:cNvPr id="29" name="Shape 27"/>
          <p:cNvSpPr/>
          <p:nvPr/>
        </p:nvSpPr>
        <p:spPr>
          <a:xfrm>
            <a:off x="6858000" y="4581144"/>
            <a:ext cx="4251960" cy="438912"/>
          </a:xfrm>
          <a:prstGeom prst="roundRect">
            <a:avLst>
              <a:gd name="adj" fmla="val 10417"/>
            </a:avLst>
          </a:prstGeom>
          <a:solidFill>
            <a:srgbClr val="273353"/>
          </a:solidFill>
          <a:ln w="12700">
            <a:solidFill>
              <a:srgbClr val="273353"/>
            </a:solidFill>
            <a:prstDash val="solid"/>
          </a:ln>
        </p:spPr>
      </p:sp>
      <p:sp>
        <p:nvSpPr>
          <p:cNvPr id="30" name="Shape 28"/>
          <p:cNvSpPr/>
          <p:nvPr/>
        </p:nvSpPr>
        <p:spPr>
          <a:xfrm>
            <a:off x="6858000" y="4581144"/>
            <a:ext cx="91440" cy="438912"/>
          </a:xfrm>
          <a:prstGeom prst="rect">
            <a:avLst/>
          </a:prstGeom>
          <a:solidFill>
            <a:srgbClr val="10A37F"/>
          </a:solidFill>
          <a:ln w="12700">
            <a:solidFill>
              <a:srgbClr val="10A37F"/>
            </a:solidFill>
            <a:prstDash val="solid"/>
          </a:ln>
        </p:spPr>
      </p:sp>
      <p:sp>
        <p:nvSpPr>
          <p:cNvPr id="31" name="Text 29"/>
          <p:cNvSpPr txBox="1"/>
          <p:nvPr/>
        </p:nvSpPr>
        <p:spPr>
          <a:xfrm>
            <a:off x="6858000" y="4581144"/>
            <a:ext cx="4251960" cy="438912"/>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planificar lote</a:t>
            </a:r>
            <a:endParaRPr lang="en-US" sz="1300" dirty="0"/>
          </a:p>
        </p:txBody>
      </p:sp>
      <p:sp>
        <p:nvSpPr>
          <p:cNvPr id="32" name="Shape 30"/>
          <p:cNvSpPr/>
          <p:nvPr/>
        </p:nvSpPr>
        <p:spPr>
          <a:xfrm>
            <a:off x="6858000" y="5148072"/>
            <a:ext cx="4251960" cy="438912"/>
          </a:xfrm>
          <a:prstGeom prst="roundRect">
            <a:avLst>
              <a:gd name="adj" fmla="val 10417"/>
            </a:avLst>
          </a:prstGeom>
          <a:solidFill>
            <a:srgbClr val="273353"/>
          </a:solidFill>
          <a:ln w="12700">
            <a:solidFill>
              <a:srgbClr val="273353"/>
            </a:solidFill>
            <a:prstDash val="solid"/>
          </a:ln>
        </p:spPr>
      </p:sp>
      <p:sp>
        <p:nvSpPr>
          <p:cNvPr id="33" name="Shape 31"/>
          <p:cNvSpPr/>
          <p:nvPr/>
        </p:nvSpPr>
        <p:spPr>
          <a:xfrm>
            <a:off x="6858000" y="5148072"/>
            <a:ext cx="91440" cy="438912"/>
          </a:xfrm>
          <a:prstGeom prst="rect">
            <a:avLst/>
          </a:prstGeom>
          <a:solidFill>
            <a:srgbClr val="10A37F"/>
          </a:solidFill>
          <a:ln w="12700">
            <a:solidFill>
              <a:srgbClr val="10A37F"/>
            </a:solidFill>
            <a:prstDash val="solid"/>
          </a:ln>
        </p:spPr>
      </p:sp>
      <p:sp>
        <p:nvSpPr>
          <p:cNvPr id="34" name="Text 32"/>
          <p:cNvSpPr txBox="1"/>
          <p:nvPr/>
        </p:nvSpPr>
        <p:spPr>
          <a:xfrm>
            <a:off x="6858000" y="5148072"/>
            <a:ext cx="4251960" cy="438912"/>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métricas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628"/>
        </a:solidFill>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oundRect">
            <a:avLst>
              <a:gd name="adj" fmla="val 37500"/>
            </a:avLst>
          </a:prstGeom>
          <a:solidFill>
            <a:srgbClr val="10A37F"/>
          </a:solidFill>
          <a:ln w="12700">
            <a:solidFill>
              <a:srgbClr val="10A37F"/>
            </a:solidFill>
            <a:prstDash val="solid"/>
          </a:ln>
        </p:spPr>
      </p:sp>
      <p:sp>
        <p:nvSpPr>
          <p:cNvPr id="3" name="Text 1"/>
          <p:cNvSpPr txBox="1"/>
          <p:nvPr/>
        </p:nvSpPr>
        <p:spPr>
          <a:xfrm>
            <a:off x="731520" y="310896"/>
            <a:ext cx="10881360" cy="621792"/>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Concurrencia ≠ paralelismo</a:t>
            </a:r>
            <a:endParaRPr lang="en-US" sz="3200" dirty="0"/>
          </a:p>
        </p:txBody>
      </p:sp>
      <p:sp>
        <p:nvSpPr>
          <p:cNvPr id="4" name="Shape 2"/>
          <p:cNvSpPr/>
          <p:nvPr/>
        </p:nvSpPr>
        <p:spPr>
          <a:xfrm>
            <a:off x="457200" y="1234440"/>
            <a:ext cx="5440680" cy="2651760"/>
          </a:xfrm>
          <a:prstGeom prst="roundRect">
            <a:avLst>
              <a:gd name="adj" fmla="val 2759"/>
            </a:avLst>
          </a:prstGeom>
          <a:solidFill>
            <a:srgbClr val="1B2540"/>
          </a:solidFill>
          <a:ln w="12700">
            <a:solidFill>
              <a:srgbClr val="273353"/>
            </a:solidFill>
            <a:prstDash val="solid"/>
          </a:ln>
        </p:spPr>
      </p:sp>
      <p:sp>
        <p:nvSpPr>
          <p:cNvPr id="5" name="Text 3"/>
          <p:cNvSpPr txBox="1"/>
          <p:nvPr/>
        </p:nvSpPr>
        <p:spPr>
          <a:xfrm>
            <a:off x="457200" y="1444752"/>
            <a:ext cx="5440680" cy="310896"/>
          </a:xfrm>
          <a:prstGeom prst="rect">
            <a:avLst/>
          </a:prstGeom>
          <a:noFill/>
          <a:ln/>
        </p:spPr>
        <p:txBody>
          <a:bodyPr wrap="square" lIns="0" tIns="0" rIns="0" bIns="0" rtlCol="0" anchor="ctr"/>
          <a:lstStyle/>
          <a:p>
            <a:pPr algn="ctr" indent="0" marL="0">
              <a:buNone/>
            </a:pPr>
            <a:r>
              <a:rPr lang="en-US" sz="1700" b="1" dirty="0">
                <a:solidFill>
                  <a:srgbClr val="5B8DEF"/>
                </a:solidFill>
                <a:latin typeface="Arial" pitchFamily="34" charset="0"/>
                <a:ea typeface="Arial" pitchFamily="34" charset="-122"/>
                <a:cs typeface="Arial" pitchFamily="34" charset="-120"/>
              </a:rPr>
              <a:t>CONCURRENCIA</a:t>
            </a:r>
            <a:endParaRPr lang="en-US" sz="1700" dirty="0"/>
          </a:p>
        </p:txBody>
      </p:sp>
      <p:sp>
        <p:nvSpPr>
          <p:cNvPr id="6" name="Text 4"/>
          <p:cNvSpPr txBox="1"/>
          <p:nvPr/>
        </p:nvSpPr>
        <p:spPr>
          <a:xfrm>
            <a:off x="457200" y="1783080"/>
            <a:ext cx="5440680" cy="310896"/>
          </a:xfrm>
          <a:prstGeom prst="rect">
            <a:avLst/>
          </a:prstGeom>
          <a:noFill/>
          <a:ln/>
        </p:spPr>
        <p:txBody>
          <a:bodyPr wrap="square" lIns="0" tIns="0" rIns="0" bIns="0" rtlCol="0" anchor="ctr"/>
          <a:lstStyle/>
          <a:p>
            <a:pPr algn="ctr" indent="0" marL="0">
              <a:buNone/>
            </a:pPr>
            <a:r>
              <a:rPr lang="en-US" sz="1200" b="1" dirty="0">
                <a:solidFill>
                  <a:srgbClr val="A9B4CC"/>
                </a:solidFill>
                <a:latin typeface="Arial" pitchFamily="34" charset="0"/>
                <a:ea typeface="Arial" pitchFamily="34" charset="-122"/>
                <a:cs typeface="Arial" pitchFamily="34" charset="-120"/>
              </a:rPr>
              <a:t>1 núcleo · tareas intercaladas</a:t>
            </a:r>
            <a:endParaRPr lang="en-US" sz="1200" dirty="0"/>
          </a:p>
        </p:txBody>
      </p:sp>
      <p:sp>
        <p:nvSpPr>
          <p:cNvPr id="7" name="Shape 5"/>
          <p:cNvSpPr/>
          <p:nvPr/>
        </p:nvSpPr>
        <p:spPr>
          <a:xfrm>
            <a:off x="777240" y="2286000"/>
            <a:ext cx="530352" cy="685800"/>
          </a:xfrm>
          <a:prstGeom prst="rect">
            <a:avLst/>
          </a:prstGeom>
          <a:solidFill>
            <a:srgbClr val="10A37F"/>
          </a:solidFill>
          <a:ln w="12700">
            <a:solidFill>
              <a:srgbClr val="10A37F"/>
            </a:solidFill>
            <a:prstDash val="solid"/>
          </a:ln>
        </p:spPr>
      </p:sp>
      <p:sp>
        <p:nvSpPr>
          <p:cNvPr id="8" name="Shape 6"/>
          <p:cNvSpPr/>
          <p:nvPr/>
        </p:nvSpPr>
        <p:spPr>
          <a:xfrm>
            <a:off x="1362456" y="2286000"/>
            <a:ext cx="530352" cy="685800"/>
          </a:xfrm>
          <a:prstGeom prst="rect">
            <a:avLst/>
          </a:prstGeom>
          <a:solidFill>
            <a:srgbClr val="5B8DEF"/>
          </a:solidFill>
          <a:ln w="12700">
            <a:solidFill>
              <a:srgbClr val="5B8DEF"/>
            </a:solidFill>
            <a:prstDash val="solid"/>
          </a:ln>
        </p:spPr>
      </p:sp>
      <p:sp>
        <p:nvSpPr>
          <p:cNvPr id="9" name="Shape 7"/>
          <p:cNvSpPr/>
          <p:nvPr/>
        </p:nvSpPr>
        <p:spPr>
          <a:xfrm>
            <a:off x="1947672" y="2286000"/>
            <a:ext cx="530352" cy="685800"/>
          </a:xfrm>
          <a:prstGeom prst="rect">
            <a:avLst/>
          </a:prstGeom>
          <a:solidFill>
            <a:srgbClr val="E8B04B"/>
          </a:solidFill>
          <a:ln w="12700">
            <a:solidFill>
              <a:srgbClr val="E8B04B"/>
            </a:solidFill>
            <a:prstDash val="solid"/>
          </a:ln>
        </p:spPr>
      </p:sp>
      <p:sp>
        <p:nvSpPr>
          <p:cNvPr id="10" name="Shape 8"/>
          <p:cNvSpPr/>
          <p:nvPr/>
        </p:nvSpPr>
        <p:spPr>
          <a:xfrm>
            <a:off x="2532888" y="2286000"/>
            <a:ext cx="530352" cy="685800"/>
          </a:xfrm>
          <a:prstGeom prst="rect">
            <a:avLst/>
          </a:prstGeom>
          <a:solidFill>
            <a:srgbClr val="10A37F"/>
          </a:solidFill>
          <a:ln w="12700">
            <a:solidFill>
              <a:srgbClr val="10A37F"/>
            </a:solidFill>
            <a:prstDash val="solid"/>
          </a:ln>
        </p:spPr>
      </p:sp>
      <p:sp>
        <p:nvSpPr>
          <p:cNvPr id="11" name="Shape 9"/>
          <p:cNvSpPr/>
          <p:nvPr/>
        </p:nvSpPr>
        <p:spPr>
          <a:xfrm>
            <a:off x="3118104" y="2286000"/>
            <a:ext cx="530352" cy="685800"/>
          </a:xfrm>
          <a:prstGeom prst="rect">
            <a:avLst/>
          </a:prstGeom>
          <a:solidFill>
            <a:srgbClr val="5B8DEF"/>
          </a:solidFill>
          <a:ln w="12700">
            <a:solidFill>
              <a:srgbClr val="5B8DEF"/>
            </a:solidFill>
            <a:prstDash val="solid"/>
          </a:ln>
        </p:spPr>
      </p:sp>
      <p:sp>
        <p:nvSpPr>
          <p:cNvPr id="12" name="Shape 10"/>
          <p:cNvSpPr/>
          <p:nvPr/>
        </p:nvSpPr>
        <p:spPr>
          <a:xfrm>
            <a:off x="3703320" y="2286000"/>
            <a:ext cx="530352" cy="685800"/>
          </a:xfrm>
          <a:prstGeom prst="rect">
            <a:avLst/>
          </a:prstGeom>
          <a:solidFill>
            <a:srgbClr val="10A37F"/>
          </a:solidFill>
          <a:ln w="12700">
            <a:solidFill>
              <a:srgbClr val="10A37F"/>
            </a:solidFill>
            <a:prstDash val="solid"/>
          </a:ln>
        </p:spPr>
      </p:sp>
      <p:sp>
        <p:nvSpPr>
          <p:cNvPr id="13" name="Shape 11"/>
          <p:cNvSpPr/>
          <p:nvPr/>
        </p:nvSpPr>
        <p:spPr>
          <a:xfrm>
            <a:off x="4288536" y="2286000"/>
            <a:ext cx="530352" cy="685800"/>
          </a:xfrm>
          <a:prstGeom prst="rect">
            <a:avLst/>
          </a:prstGeom>
          <a:solidFill>
            <a:srgbClr val="E8B04B"/>
          </a:solidFill>
          <a:ln w="12700">
            <a:solidFill>
              <a:srgbClr val="E8B04B"/>
            </a:solidFill>
            <a:prstDash val="solid"/>
          </a:ln>
        </p:spPr>
      </p:sp>
      <p:sp>
        <p:nvSpPr>
          <p:cNvPr id="14" name="Shape 12"/>
          <p:cNvSpPr/>
          <p:nvPr/>
        </p:nvSpPr>
        <p:spPr>
          <a:xfrm>
            <a:off x="4873752" y="2286000"/>
            <a:ext cx="530352" cy="685800"/>
          </a:xfrm>
          <a:prstGeom prst="rect">
            <a:avLst/>
          </a:prstGeom>
          <a:solidFill>
            <a:srgbClr val="5B8DEF"/>
          </a:solidFill>
          <a:ln w="12700">
            <a:solidFill>
              <a:srgbClr val="5B8DEF"/>
            </a:solidFill>
            <a:prstDash val="solid"/>
          </a:ln>
        </p:spPr>
      </p:sp>
      <p:sp>
        <p:nvSpPr>
          <p:cNvPr id="15" name="Text 13"/>
          <p:cNvSpPr txBox="1"/>
          <p:nvPr/>
        </p:nvSpPr>
        <p:spPr>
          <a:xfrm>
            <a:off x="457200" y="3108960"/>
            <a:ext cx="5440680" cy="310896"/>
          </a:xfrm>
          <a:prstGeom prst="rect">
            <a:avLst/>
          </a:prstGeom>
          <a:noFill/>
          <a:ln/>
        </p:spPr>
        <p:txBody>
          <a:bodyPr wrap="square" lIns="0" tIns="0" rIns="0" bIns="0" rtlCol="0" anchor="ctr"/>
          <a:lstStyle/>
          <a:p>
            <a:pPr algn="ctr" indent="0" marL="0">
              <a:buNone/>
            </a:pPr>
            <a:r>
              <a:rPr lang="en-US" sz="1100" b="1" dirty="0">
                <a:solidFill>
                  <a:srgbClr val="A9B4CC"/>
                </a:solidFill>
                <a:latin typeface="Arial" pitchFamily="34" charset="0"/>
                <a:ea typeface="Arial" pitchFamily="34" charset="-122"/>
                <a:cs typeface="Arial" pitchFamily="34" charset="-120"/>
              </a:rPr>
              <a:t>núcleo 1</a:t>
            </a:r>
            <a:endParaRPr lang="en-US" sz="1100" dirty="0"/>
          </a:p>
        </p:txBody>
      </p:sp>
      <p:sp>
        <p:nvSpPr>
          <p:cNvPr id="16" name="Text 14"/>
          <p:cNvSpPr txBox="1"/>
          <p:nvPr/>
        </p:nvSpPr>
        <p:spPr>
          <a:xfrm>
            <a:off x="457200" y="3429000"/>
            <a:ext cx="544068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avanzan todas, pero por turnos</a:t>
            </a:r>
            <a:endParaRPr lang="en-US" sz="1200" dirty="0"/>
          </a:p>
        </p:txBody>
      </p:sp>
      <p:sp>
        <p:nvSpPr>
          <p:cNvPr id="17" name="Shape 15"/>
          <p:cNvSpPr/>
          <p:nvPr/>
        </p:nvSpPr>
        <p:spPr>
          <a:xfrm>
            <a:off x="6291072" y="1234440"/>
            <a:ext cx="5440680" cy="2651760"/>
          </a:xfrm>
          <a:prstGeom prst="roundRect">
            <a:avLst>
              <a:gd name="adj" fmla="val 2759"/>
            </a:avLst>
          </a:prstGeom>
          <a:solidFill>
            <a:srgbClr val="1B2540"/>
          </a:solidFill>
          <a:ln w="12700">
            <a:solidFill>
              <a:srgbClr val="273353"/>
            </a:solidFill>
            <a:prstDash val="solid"/>
          </a:ln>
        </p:spPr>
      </p:sp>
      <p:sp>
        <p:nvSpPr>
          <p:cNvPr id="18" name="Text 16"/>
          <p:cNvSpPr txBox="1"/>
          <p:nvPr/>
        </p:nvSpPr>
        <p:spPr>
          <a:xfrm>
            <a:off x="6291072" y="1444752"/>
            <a:ext cx="5440680" cy="310896"/>
          </a:xfrm>
          <a:prstGeom prst="rect">
            <a:avLst/>
          </a:prstGeom>
          <a:noFill/>
          <a:ln/>
        </p:spPr>
        <p:txBody>
          <a:bodyPr wrap="square" lIns="0" tIns="0" rIns="0" bIns="0" rtlCol="0" anchor="ctr"/>
          <a:lstStyle/>
          <a:p>
            <a:pPr algn="ctr" indent="0" marL="0">
              <a:buNone/>
            </a:pPr>
            <a:r>
              <a:rPr lang="en-US" sz="1700" b="1" dirty="0">
                <a:solidFill>
                  <a:srgbClr val="10A37F"/>
                </a:solidFill>
                <a:latin typeface="Arial" pitchFamily="34" charset="0"/>
                <a:ea typeface="Arial" pitchFamily="34" charset="-122"/>
                <a:cs typeface="Arial" pitchFamily="34" charset="-120"/>
              </a:rPr>
              <a:t>PARALELISMO</a:t>
            </a:r>
            <a:endParaRPr lang="en-US" sz="1700" dirty="0"/>
          </a:p>
        </p:txBody>
      </p:sp>
      <p:sp>
        <p:nvSpPr>
          <p:cNvPr id="19" name="Text 17"/>
          <p:cNvSpPr txBox="1"/>
          <p:nvPr/>
        </p:nvSpPr>
        <p:spPr>
          <a:xfrm>
            <a:off x="6291072" y="1783080"/>
            <a:ext cx="5440680" cy="310896"/>
          </a:xfrm>
          <a:prstGeom prst="rect">
            <a:avLst/>
          </a:prstGeom>
          <a:noFill/>
          <a:ln/>
        </p:spPr>
        <p:txBody>
          <a:bodyPr wrap="square" lIns="0" tIns="0" rIns="0" bIns="0" rtlCol="0" anchor="ctr"/>
          <a:lstStyle/>
          <a:p>
            <a:pPr algn="ctr" indent="0" marL="0">
              <a:buNone/>
            </a:pPr>
            <a:r>
              <a:rPr lang="en-US" sz="1200" b="1" dirty="0">
                <a:solidFill>
                  <a:srgbClr val="A9B4CC"/>
                </a:solidFill>
                <a:latin typeface="Arial" pitchFamily="34" charset="0"/>
                <a:ea typeface="Arial" pitchFamily="34" charset="-122"/>
                <a:cs typeface="Arial" pitchFamily="34" charset="-120"/>
              </a:rPr>
              <a:t>varias unidades · a la vez</a:t>
            </a:r>
            <a:endParaRPr lang="en-US" sz="1200" dirty="0"/>
          </a:p>
        </p:txBody>
      </p:sp>
      <p:sp>
        <p:nvSpPr>
          <p:cNvPr id="20" name="Shape 18"/>
          <p:cNvSpPr/>
          <p:nvPr/>
        </p:nvSpPr>
        <p:spPr>
          <a:xfrm>
            <a:off x="7498080" y="2194560"/>
            <a:ext cx="548640" cy="292608"/>
          </a:xfrm>
          <a:prstGeom prst="rect">
            <a:avLst/>
          </a:prstGeom>
          <a:solidFill>
            <a:srgbClr val="10A37F"/>
          </a:solidFill>
          <a:ln w="12700">
            <a:solidFill>
              <a:srgbClr val="10A37F"/>
            </a:solidFill>
            <a:prstDash val="solid"/>
          </a:ln>
        </p:spPr>
      </p:sp>
      <p:sp>
        <p:nvSpPr>
          <p:cNvPr id="21" name="Shape 19"/>
          <p:cNvSpPr/>
          <p:nvPr/>
        </p:nvSpPr>
        <p:spPr>
          <a:xfrm>
            <a:off x="8101584" y="2194560"/>
            <a:ext cx="548640" cy="292608"/>
          </a:xfrm>
          <a:prstGeom prst="rect">
            <a:avLst/>
          </a:prstGeom>
          <a:solidFill>
            <a:srgbClr val="10A37F"/>
          </a:solidFill>
          <a:ln w="12700">
            <a:solidFill>
              <a:srgbClr val="10A37F"/>
            </a:solidFill>
            <a:prstDash val="solid"/>
          </a:ln>
        </p:spPr>
      </p:sp>
      <p:sp>
        <p:nvSpPr>
          <p:cNvPr id="22" name="Shape 20"/>
          <p:cNvSpPr/>
          <p:nvPr/>
        </p:nvSpPr>
        <p:spPr>
          <a:xfrm>
            <a:off x="8705088" y="2194560"/>
            <a:ext cx="548640" cy="292608"/>
          </a:xfrm>
          <a:prstGeom prst="rect">
            <a:avLst/>
          </a:prstGeom>
          <a:solidFill>
            <a:srgbClr val="10A37F"/>
          </a:solidFill>
          <a:ln w="12700">
            <a:solidFill>
              <a:srgbClr val="10A37F"/>
            </a:solidFill>
            <a:prstDash val="solid"/>
          </a:ln>
        </p:spPr>
      </p:sp>
      <p:sp>
        <p:nvSpPr>
          <p:cNvPr id="23" name="Shape 21"/>
          <p:cNvSpPr/>
          <p:nvPr/>
        </p:nvSpPr>
        <p:spPr>
          <a:xfrm>
            <a:off x="9308592" y="2194560"/>
            <a:ext cx="548640" cy="292608"/>
          </a:xfrm>
          <a:prstGeom prst="rect">
            <a:avLst/>
          </a:prstGeom>
          <a:solidFill>
            <a:srgbClr val="10A37F"/>
          </a:solidFill>
          <a:ln w="12700">
            <a:solidFill>
              <a:srgbClr val="10A37F"/>
            </a:solidFill>
            <a:prstDash val="solid"/>
          </a:ln>
        </p:spPr>
      </p:sp>
      <p:sp>
        <p:nvSpPr>
          <p:cNvPr id="24" name="Shape 22"/>
          <p:cNvSpPr/>
          <p:nvPr/>
        </p:nvSpPr>
        <p:spPr>
          <a:xfrm>
            <a:off x="9912096" y="2194560"/>
            <a:ext cx="548640" cy="292608"/>
          </a:xfrm>
          <a:prstGeom prst="rect">
            <a:avLst/>
          </a:prstGeom>
          <a:solidFill>
            <a:srgbClr val="10A37F"/>
          </a:solidFill>
          <a:ln w="12700">
            <a:solidFill>
              <a:srgbClr val="10A37F"/>
            </a:solidFill>
            <a:prstDash val="solid"/>
          </a:ln>
        </p:spPr>
      </p:sp>
      <p:sp>
        <p:nvSpPr>
          <p:cNvPr id="25" name="Text 23"/>
          <p:cNvSpPr txBox="1"/>
          <p:nvPr/>
        </p:nvSpPr>
        <p:spPr>
          <a:xfrm>
            <a:off x="6537960" y="2194560"/>
            <a:ext cx="914400" cy="292608"/>
          </a:xfrm>
          <a:prstGeom prst="rect">
            <a:avLst/>
          </a:prstGeom>
          <a:noFill/>
          <a:ln/>
        </p:spPr>
        <p:txBody>
          <a:bodyPr wrap="square" lIns="0" tIns="0" rIns="0" bIns="0" rtlCol="0" anchor="ctr"/>
          <a:lstStyle/>
          <a:p>
            <a:pPr algn="r" indent="0" marL="0">
              <a:buNone/>
            </a:pPr>
            <a:r>
              <a:rPr lang="en-US" sz="1000" dirty="0">
                <a:solidFill>
                  <a:srgbClr val="A9B4CC"/>
                </a:solidFill>
                <a:latin typeface="Calibri" pitchFamily="34" charset="0"/>
                <a:ea typeface="Calibri" pitchFamily="34" charset="-122"/>
                <a:cs typeface="Calibri" pitchFamily="34" charset="-120"/>
              </a:rPr>
              <a:t>núcleo 1</a:t>
            </a:r>
            <a:endParaRPr lang="en-US" sz="1000" dirty="0"/>
          </a:p>
        </p:txBody>
      </p:sp>
      <p:sp>
        <p:nvSpPr>
          <p:cNvPr id="26" name="Shape 24"/>
          <p:cNvSpPr/>
          <p:nvPr/>
        </p:nvSpPr>
        <p:spPr>
          <a:xfrm>
            <a:off x="7498080" y="2578608"/>
            <a:ext cx="548640" cy="292608"/>
          </a:xfrm>
          <a:prstGeom prst="rect">
            <a:avLst/>
          </a:prstGeom>
          <a:solidFill>
            <a:srgbClr val="5B8DEF"/>
          </a:solidFill>
          <a:ln w="12700">
            <a:solidFill>
              <a:srgbClr val="5B8DEF"/>
            </a:solidFill>
            <a:prstDash val="solid"/>
          </a:ln>
        </p:spPr>
      </p:sp>
      <p:sp>
        <p:nvSpPr>
          <p:cNvPr id="27" name="Shape 25"/>
          <p:cNvSpPr/>
          <p:nvPr/>
        </p:nvSpPr>
        <p:spPr>
          <a:xfrm>
            <a:off x="8101584" y="2578608"/>
            <a:ext cx="548640" cy="292608"/>
          </a:xfrm>
          <a:prstGeom prst="rect">
            <a:avLst/>
          </a:prstGeom>
          <a:solidFill>
            <a:srgbClr val="5B8DEF"/>
          </a:solidFill>
          <a:ln w="12700">
            <a:solidFill>
              <a:srgbClr val="5B8DEF"/>
            </a:solidFill>
            <a:prstDash val="solid"/>
          </a:ln>
        </p:spPr>
      </p:sp>
      <p:sp>
        <p:nvSpPr>
          <p:cNvPr id="28" name="Shape 26"/>
          <p:cNvSpPr/>
          <p:nvPr/>
        </p:nvSpPr>
        <p:spPr>
          <a:xfrm>
            <a:off x="8705088" y="2578608"/>
            <a:ext cx="548640" cy="292608"/>
          </a:xfrm>
          <a:prstGeom prst="rect">
            <a:avLst/>
          </a:prstGeom>
          <a:solidFill>
            <a:srgbClr val="5B8DEF"/>
          </a:solidFill>
          <a:ln w="12700">
            <a:solidFill>
              <a:srgbClr val="5B8DEF"/>
            </a:solidFill>
            <a:prstDash val="solid"/>
          </a:ln>
        </p:spPr>
      </p:sp>
      <p:sp>
        <p:nvSpPr>
          <p:cNvPr id="29" name="Shape 27"/>
          <p:cNvSpPr/>
          <p:nvPr/>
        </p:nvSpPr>
        <p:spPr>
          <a:xfrm>
            <a:off x="9308592" y="2578608"/>
            <a:ext cx="548640" cy="292608"/>
          </a:xfrm>
          <a:prstGeom prst="rect">
            <a:avLst/>
          </a:prstGeom>
          <a:solidFill>
            <a:srgbClr val="5B8DEF"/>
          </a:solidFill>
          <a:ln w="12700">
            <a:solidFill>
              <a:srgbClr val="5B8DEF"/>
            </a:solidFill>
            <a:prstDash val="solid"/>
          </a:ln>
        </p:spPr>
      </p:sp>
      <p:sp>
        <p:nvSpPr>
          <p:cNvPr id="30" name="Shape 28"/>
          <p:cNvSpPr/>
          <p:nvPr/>
        </p:nvSpPr>
        <p:spPr>
          <a:xfrm>
            <a:off x="9912096" y="2578608"/>
            <a:ext cx="548640" cy="292608"/>
          </a:xfrm>
          <a:prstGeom prst="rect">
            <a:avLst/>
          </a:prstGeom>
          <a:solidFill>
            <a:srgbClr val="5B8DEF"/>
          </a:solidFill>
          <a:ln w="12700">
            <a:solidFill>
              <a:srgbClr val="5B8DEF"/>
            </a:solidFill>
            <a:prstDash val="solid"/>
          </a:ln>
        </p:spPr>
      </p:sp>
      <p:sp>
        <p:nvSpPr>
          <p:cNvPr id="31" name="Text 29"/>
          <p:cNvSpPr txBox="1"/>
          <p:nvPr/>
        </p:nvSpPr>
        <p:spPr>
          <a:xfrm>
            <a:off x="6537960" y="2578608"/>
            <a:ext cx="914400" cy="292608"/>
          </a:xfrm>
          <a:prstGeom prst="rect">
            <a:avLst/>
          </a:prstGeom>
          <a:noFill/>
          <a:ln/>
        </p:spPr>
        <p:txBody>
          <a:bodyPr wrap="square" lIns="0" tIns="0" rIns="0" bIns="0" rtlCol="0" anchor="ctr"/>
          <a:lstStyle/>
          <a:p>
            <a:pPr algn="r" indent="0" marL="0">
              <a:buNone/>
            </a:pPr>
            <a:r>
              <a:rPr lang="en-US" sz="1000" dirty="0">
                <a:solidFill>
                  <a:srgbClr val="A9B4CC"/>
                </a:solidFill>
                <a:latin typeface="Calibri" pitchFamily="34" charset="0"/>
                <a:ea typeface="Calibri" pitchFamily="34" charset="-122"/>
                <a:cs typeface="Calibri" pitchFamily="34" charset="-120"/>
              </a:rPr>
              <a:t>núcleo 2</a:t>
            </a:r>
            <a:endParaRPr lang="en-US" sz="1000" dirty="0"/>
          </a:p>
        </p:txBody>
      </p:sp>
      <p:sp>
        <p:nvSpPr>
          <p:cNvPr id="32" name="Shape 30"/>
          <p:cNvSpPr/>
          <p:nvPr/>
        </p:nvSpPr>
        <p:spPr>
          <a:xfrm>
            <a:off x="7498080" y="2962656"/>
            <a:ext cx="548640" cy="292608"/>
          </a:xfrm>
          <a:prstGeom prst="rect">
            <a:avLst/>
          </a:prstGeom>
          <a:solidFill>
            <a:srgbClr val="E8B04B"/>
          </a:solidFill>
          <a:ln w="12700">
            <a:solidFill>
              <a:srgbClr val="E8B04B"/>
            </a:solidFill>
            <a:prstDash val="solid"/>
          </a:ln>
        </p:spPr>
      </p:sp>
      <p:sp>
        <p:nvSpPr>
          <p:cNvPr id="33" name="Shape 31"/>
          <p:cNvSpPr/>
          <p:nvPr/>
        </p:nvSpPr>
        <p:spPr>
          <a:xfrm>
            <a:off x="8101584" y="2962656"/>
            <a:ext cx="548640" cy="292608"/>
          </a:xfrm>
          <a:prstGeom prst="rect">
            <a:avLst/>
          </a:prstGeom>
          <a:solidFill>
            <a:srgbClr val="E8B04B"/>
          </a:solidFill>
          <a:ln w="12700">
            <a:solidFill>
              <a:srgbClr val="E8B04B"/>
            </a:solidFill>
            <a:prstDash val="solid"/>
          </a:ln>
        </p:spPr>
      </p:sp>
      <p:sp>
        <p:nvSpPr>
          <p:cNvPr id="34" name="Shape 32"/>
          <p:cNvSpPr/>
          <p:nvPr/>
        </p:nvSpPr>
        <p:spPr>
          <a:xfrm>
            <a:off x="8705088" y="2962656"/>
            <a:ext cx="548640" cy="292608"/>
          </a:xfrm>
          <a:prstGeom prst="rect">
            <a:avLst/>
          </a:prstGeom>
          <a:solidFill>
            <a:srgbClr val="E8B04B"/>
          </a:solidFill>
          <a:ln w="12700">
            <a:solidFill>
              <a:srgbClr val="E8B04B"/>
            </a:solidFill>
            <a:prstDash val="solid"/>
          </a:ln>
        </p:spPr>
      </p:sp>
      <p:sp>
        <p:nvSpPr>
          <p:cNvPr id="35" name="Shape 33"/>
          <p:cNvSpPr/>
          <p:nvPr/>
        </p:nvSpPr>
        <p:spPr>
          <a:xfrm>
            <a:off x="9308592" y="2962656"/>
            <a:ext cx="548640" cy="292608"/>
          </a:xfrm>
          <a:prstGeom prst="rect">
            <a:avLst/>
          </a:prstGeom>
          <a:solidFill>
            <a:srgbClr val="E8B04B"/>
          </a:solidFill>
          <a:ln w="12700">
            <a:solidFill>
              <a:srgbClr val="E8B04B"/>
            </a:solidFill>
            <a:prstDash val="solid"/>
          </a:ln>
        </p:spPr>
      </p:sp>
      <p:sp>
        <p:nvSpPr>
          <p:cNvPr id="36" name="Shape 34"/>
          <p:cNvSpPr/>
          <p:nvPr/>
        </p:nvSpPr>
        <p:spPr>
          <a:xfrm>
            <a:off x="9912096" y="2962656"/>
            <a:ext cx="548640" cy="292608"/>
          </a:xfrm>
          <a:prstGeom prst="rect">
            <a:avLst/>
          </a:prstGeom>
          <a:solidFill>
            <a:srgbClr val="E8B04B"/>
          </a:solidFill>
          <a:ln w="12700">
            <a:solidFill>
              <a:srgbClr val="E8B04B"/>
            </a:solidFill>
            <a:prstDash val="solid"/>
          </a:ln>
        </p:spPr>
      </p:sp>
      <p:sp>
        <p:nvSpPr>
          <p:cNvPr id="37" name="Text 35"/>
          <p:cNvSpPr txBox="1"/>
          <p:nvPr/>
        </p:nvSpPr>
        <p:spPr>
          <a:xfrm>
            <a:off x="6537960" y="2962656"/>
            <a:ext cx="914400" cy="292608"/>
          </a:xfrm>
          <a:prstGeom prst="rect">
            <a:avLst/>
          </a:prstGeom>
          <a:noFill/>
          <a:ln/>
        </p:spPr>
        <p:txBody>
          <a:bodyPr wrap="square" lIns="0" tIns="0" rIns="0" bIns="0" rtlCol="0" anchor="ctr"/>
          <a:lstStyle/>
          <a:p>
            <a:pPr algn="r" indent="0" marL="0">
              <a:buNone/>
            </a:pPr>
            <a:r>
              <a:rPr lang="en-US" sz="1000" dirty="0">
                <a:solidFill>
                  <a:srgbClr val="A9B4CC"/>
                </a:solidFill>
                <a:latin typeface="Calibri" pitchFamily="34" charset="0"/>
                <a:ea typeface="Calibri" pitchFamily="34" charset="-122"/>
                <a:cs typeface="Calibri" pitchFamily="34" charset="-120"/>
              </a:rPr>
              <a:t>núcleo 3</a:t>
            </a:r>
            <a:endParaRPr lang="en-US" sz="1000" dirty="0"/>
          </a:p>
        </p:txBody>
      </p:sp>
      <p:sp>
        <p:nvSpPr>
          <p:cNvPr id="38" name="Text 36"/>
          <p:cNvSpPr txBox="1"/>
          <p:nvPr/>
        </p:nvSpPr>
        <p:spPr>
          <a:xfrm>
            <a:off x="6291072" y="3429000"/>
            <a:ext cx="544068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hardware real trabajando en paralelo</a:t>
            </a:r>
            <a:endParaRPr lang="en-US" sz="1200" dirty="0"/>
          </a:p>
        </p:txBody>
      </p:sp>
      <p:sp>
        <p:nvSpPr>
          <p:cNvPr id="39" name="Shape 37"/>
          <p:cNvSpPr/>
          <p:nvPr/>
        </p:nvSpPr>
        <p:spPr>
          <a:xfrm>
            <a:off x="457200" y="4160520"/>
            <a:ext cx="11274552" cy="1965960"/>
          </a:xfrm>
          <a:prstGeom prst="roundRect">
            <a:avLst>
              <a:gd name="adj" fmla="val 3721"/>
            </a:avLst>
          </a:prstGeom>
          <a:solidFill>
            <a:srgbClr val="1B2540"/>
          </a:solidFill>
          <a:ln w="19050">
            <a:solidFill>
              <a:srgbClr val="10A37F"/>
            </a:solidFill>
            <a:prstDash val="solid"/>
          </a:ln>
        </p:spPr>
      </p:sp>
      <p:sp>
        <p:nvSpPr>
          <p:cNvPr id="40" name="Text 38"/>
          <p:cNvSpPr txBox="1"/>
          <p:nvPr/>
        </p:nvSpPr>
        <p:spPr>
          <a:xfrm>
            <a:off x="457200" y="4370832"/>
            <a:ext cx="11274552" cy="310896"/>
          </a:xfrm>
          <a:prstGeom prst="rect">
            <a:avLst/>
          </a:prstGeom>
          <a:noFill/>
          <a:ln/>
        </p:spPr>
        <p:txBody>
          <a:bodyPr wrap="square" lIns="0" tIns="0" rIns="0" bIns="0" rtlCol="0" anchor="ctr"/>
          <a:lstStyle/>
          <a:p>
            <a:pPr algn="ctr" indent="0" marL="0">
              <a:buNone/>
            </a:pPr>
            <a:r>
              <a:rPr lang="en-US" sz="1700" b="1" dirty="0">
                <a:solidFill>
                  <a:srgbClr val="E8B04B"/>
                </a:solidFill>
                <a:latin typeface="Arial" pitchFamily="34" charset="0"/>
                <a:ea typeface="Arial" pitchFamily="34" charset="-122"/>
                <a:cs typeface="Arial" pitchFamily="34" charset="-120"/>
              </a:rPr>
              <a:t>EN CHATGPT: LAS DOS COSAS  →  BATCHING</a:t>
            </a:r>
            <a:endParaRPr lang="en-US" sz="1700" dirty="0"/>
          </a:p>
        </p:txBody>
      </p:sp>
      <p:sp>
        <p:nvSpPr>
          <p:cNvPr id="41" name="Shape 39"/>
          <p:cNvSpPr/>
          <p:nvPr/>
        </p:nvSpPr>
        <p:spPr>
          <a:xfrm>
            <a:off x="1280160" y="4937760"/>
            <a:ext cx="1783080" cy="566928"/>
          </a:xfrm>
          <a:prstGeom prst="roundRect">
            <a:avLst>
              <a:gd name="adj" fmla="val 9677"/>
            </a:avLst>
          </a:prstGeom>
          <a:solidFill>
            <a:srgbClr val="273353"/>
          </a:solidFill>
          <a:ln w="12700">
            <a:solidFill>
              <a:srgbClr val="5B8DEF"/>
            </a:solidFill>
            <a:prstDash val="solid"/>
          </a:ln>
        </p:spPr>
      </p:sp>
      <p:sp>
        <p:nvSpPr>
          <p:cNvPr id="42" name="Text 40"/>
          <p:cNvSpPr txBox="1"/>
          <p:nvPr/>
        </p:nvSpPr>
        <p:spPr>
          <a:xfrm>
            <a:off x="1280160" y="4937760"/>
            <a:ext cx="178308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Usuario A</a:t>
            </a:r>
            <a:endParaRPr lang="en-US" sz="1200" dirty="0"/>
          </a:p>
        </p:txBody>
      </p:sp>
      <p:sp>
        <p:nvSpPr>
          <p:cNvPr id="43" name="Shape 41"/>
          <p:cNvSpPr/>
          <p:nvPr/>
        </p:nvSpPr>
        <p:spPr>
          <a:xfrm>
            <a:off x="3291840" y="4937760"/>
            <a:ext cx="1783080" cy="566928"/>
          </a:xfrm>
          <a:prstGeom prst="roundRect">
            <a:avLst>
              <a:gd name="adj" fmla="val 9677"/>
            </a:avLst>
          </a:prstGeom>
          <a:solidFill>
            <a:srgbClr val="273353"/>
          </a:solidFill>
          <a:ln w="12700">
            <a:solidFill>
              <a:srgbClr val="5B8DEF"/>
            </a:solidFill>
            <a:prstDash val="solid"/>
          </a:ln>
        </p:spPr>
      </p:sp>
      <p:sp>
        <p:nvSpPr>
          <p:cNvPr id="44" name="Text 42"/>
          <p:cNvSpPr txBox="1"/>
          <p:nvPr/>
        </p:nvSpPr>
        <p:spPr>
          <a:xfrm>
            <a:off x="3291840" y="4937760"/>
            <a:ext cx="178308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Usuario B</a:t>
            </a:r>
            <a:endParaRPr lang="en-US" sz="1200" dirty="0"/>
          </a:p>
        </p:txBody>
      </p:sp>
      <p:sp>
        <p:nvSpPr>
          <p:cNvPr id="45" name="Shape 43"/>
          <p:cNvSpPr/>
          <p:nvPr/>
        </p:nvSpPr>
        <p:spPr>
          <a:xfrm>
            <a:off x="5303520" y="4937760"/>
            <a:ext cx="1783080" cy="566928"/>
          </a:xfrm>
          <a:prstGeom prst="roundRect">
            <a:avLst>
              <a:gd name="adj" fmla="val 9677"/>
            </a:avLst>
          </a:prstGeom>
          <a:solidFill>
            <a:srgbClr val="273353"/>
          </a:solidFill>
          <a:ln w="12700">
            <a:solidFill>
              <a:srgbClr val="5B8DEF"/>
            </a:solidFill>
            <a:prstDash val="solid"/>
          </a:ln>
        </p:spPr>
      </p:sp>
      <p:sp>
        <p:nvSpPr>
          <p:cNvPr id="46" name="Text 44"/>
          <p:cNvSpPr txBox="1"/>
          <p:nvPr/>
        </p:nvSpPr>
        <p:spPr>
          <a:xfrm>
            <a:off x="5303520" y="4937760"/>
            <a:ext cx="178308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Usuario C</a:t>
            </a:r>
            <a:endParaRPr lang="en-US" sz="1200" dirty="0"/>
          </a:p>
        </p:txBody>
      </p:sp>
      <p:sp>
        <p:nvSpPr>
          <p:cNvPr id="47" name="Text 45"/>
          <p:cNvSpPr txBox="1"/>
          <p:nvPr/>
        </p:nvSpPr>
        <p:spPr>
          <a:xfrm>
            <a:off x="7315200" y="4937760"/>
            <a:ext cx="640080" cy="566928"/>
          </a:xfrm>
          <a:prstGeom prst="rect">
            <a:avLst/>
          </a:prstGeom>
          <a:noFill/>
          <a:ln/>
        </p:spPr>
        <p:txBody>
          <a:bodyPr wrap="square" lIns="0" tIns="0" rIns="0" bIns="0" rtlCol="0" anchor="ctr"/>
          <a:lstStyle/>
          <a:p>
            <a:pPr algn="ctr" indent="0" marL="0">
              <a:buNone/>
            </a:pPr>
            <a:r>
              <a:rPr lang="en-US" sz="2200" b="1" dirty="0">
                <a:solidFill>
                  <a:srgbClr val="10A37F"/>
                </a:solidFill>
                <a:latin typeface="Arial" pitchFamily="34" charset="0"/>
                <a:ea typeface="Arial" pitchFamily="34" charset="-122"/>
                <a:cs typeface="Arial" pitchFamily="34" charset="-120"/>
              </a:rPr>
              <a:t>→</a:t>
            </a:r>
            <a:endParaRPr lang="en-US" sz="2200" dirty="0"/>
          </a:p>
        </p:txBody>
      </p:sp>
      <p:sp>
        <p:nvSpPr>
          <p:cNvPr id="48" name="Shape 46"/>
          <p:cNvSpPr/>
          <p:nvPr/>
        </p:nvSpPr>
        <p:spPr>
          <a:xfrm>
            <a:off x="8046720" y="4937760"/>
            <a:ext cx="3200400" cy="566928"/>
          </a:xfrm>
          <a:prstGeom prst="roundRect">
            <a:avLst>
              <a:gd name="adj" fmla="val 9677"/>
            </a:avLst>
          </a:prstGeom>
          <a:solidFill>
            <a:srgbClr val="10A37F"/>
          </a:solidFill>
          <a:ln w="12700">
            <a:solidFill>
              <a:srgbClr val="10A37F"/>
            </a:solidFill>
            <a:prstDash val="solid"/>
          </a:ln>
        </p:spPr>
      </p:sp>
      <p:sp>
        <p:nvSpPr>
          <p:cNvPr id="49" name="Text 47"/>
          <p:cNvSpPr txBox="1"/>
          <p:nvPr/>
        </p:nvSpPr>
        <p:spPr>
          <a:xfrm>
            <a:off x="8046720" y="4937760"/>
            <a:ext cx="3200400" cy="566928"/>
          </a:xfrm>
          <a:prstGeom prst="rect">
            <a:avLst/>
          </a:prstGeom>
          <a:noFill/>
          <a:ln/>
        </p:spPr>
        <p:txBody>
          <a:bodyPr wrap="square" lIns="0" tIns="0" rIns="0" bIns="0" rtlCol="0" anchor="ctr"/>
          <a:lstStyle/>
          <a:p>
            <a:pPr algn="ctr" indent="0" marL="0">
              <a:buNone/>
            </a:pPr>
            <a:r>
              <a:rPr lang="en-US" sz="1400" b="1" dirty="0">
                <a:solidFill>
                  <a:srgbClr val="0E1628"/>
                </a:solidFill>
                <a:latin typeface="Arial" pitchFamily="34" charset="0"/>
                <a:ea typeface="Arial" pitchFamily="34" charset="-122"/>
                <a:cs typeface="Arial" pitchFamily="34" charset="-120"/>
              </a:rPr>
              <a:t>1 pasada en la GPU</a:t>
            </a:r>
            <a:endParaRPr lang="en-US" sz="1400" dirty="0"/>
          </a:p>
        </p:txBody>
      </p:sp>
      <p:sp>
        <p:nvSpPr>
          <p:cNvPr id="50" name="Text 48"/>
          <p:cNvSpPr txBox="1"/>
          <p:nvPr/>
        </p:nvSpPr>
        <p:spPr>
          <a:xfrm>
            <a:off x="457200" y="5623560"/>
            <a:ext cx="11274552" cy="310896"/>
          </a:xfrm>
          <a:prstGeom prst="rect">
            <a:avLst/>
          </a:prstGeom>
          <a:noFill/>
          <a:ln/>
        </p:spPr>
        <p:txBody>
          <a:bodyPr wrap="square" lIns="0" tIns="0" rIns="0" bIns="0" rtlCol="0" anchor="ctr"/>
          <a:lstStyle/>
          <a:p>
            <a:pPr algn="ctr" indent="0" marL="0">
              <a:buNone/>
            </a:pPr>
            <a:r>
              <a:rPr lang="en-US" sz="1200" b="1" dirty="0">
                <a:solidFill>
                  <a:srgbClr val="A9B4CC"/>
                </a:solidFill>
                <a:latin typeface="Arial" pitchFamily="34" charset="0"/>
                <a:ea typeface="Arial" pitchFamily="34" charset="-122"/>
                <a:cs typeface="Arial" pitchFamily="34" charset="-120"/>
              </a:rPr>
              <a:t>peticiones de usuarios distintos en un mismo lote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628"/>
        </a:solidFill>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oundRect">
            <a:avLst>
              <a:gd name="adj" fmla="val 37500"/>
            </a:avLst>
          </a:prstGeom>
          <a:solidFill>
            <a:srgbClr val="10A37F"/>
          </a:solidFill>
          <a:ln w="12700">
            <a:solidFill>
              <a:srgbClr val="10A37F"/>
            </a:solidFill>
            <a:prstDash val="solid"/>
          </a:ln>
        </p:spPr>
      </p:sp>
      <p:sp>
        <p:nvSpPr>
          <p:cNvPr id="3" name="Text 1"/>
          <p:cNvSpPr txBox="1"/>
          <p:nvPr/>
        </p:nvSpPr>
        <p:spPr>
          <a:xfrm>
            <a:off x="731520" y="310896"/>
            <a:ext cx="10881360" cy="621792"/>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Un sistema distribuido</a:t>
            </a:r>
            <a:endParaRPr lang="en-US" sz="3200" dirty="0"/>
          </a:p>
        </p:txBody>
      </p:sp>
      <p:sp>
        <p:nvSpPr>
          <p:cNvPr id="4" name="Shape 2"/>
          <p:cNvSpPr/>
          <p:nvPr/>
        </p:nvSpPr>
        <p:spPr>
          <a:xfrm>
            <a:off x="457200" y="1234440"/>
            <a:ext cx="11274552" cy="3977640"/>
          </a:xfrm>
          <a:prstGeom prst="roundRect">
            <a:avLst>
              <a:gd name="adj" fmla="val 1839"/>
            </a:avLst>
          </a:prstGeom>
          <a:solidFill>
            <a:srgbClr val="1B2540"/>
          </a:solidFill>
          <a:ln w="12700">
            <a:solidFill>
              <a:srgbClr val="273353"/>
            </a:solidFill>
            <a:prstDash val="solid"/>
          </a:ln>
        </p:spPr>
      </p:sp>
      <p:sp>
        <p:nvSpPr>
          <p:cNvPr id="5" name="Shape 3"/>
          <p:cNvSpPr/>
          <p:nvPr/>
        </p:nvSpPr>
        <p:spPr>
          <a:xfrm>
            <a:off x="4023360" y="1508760"/>
            <a:ext cx="4114800" cy="566928"/>
          </a:xfrm>
          <a:prstGeom prst="roundRect">
            <a:avLst>
              <a:gd name="adj" fmla="val 9677"/>
            </a:avLst>
          </a:prstGeom>
          <a:solidFill>
            <a:srgbClr val="273353"/>
          </a:solidFill>
          <a:ln w="19050">
            <a:solidFill>
              <a:srgbClr val="5B8DEF"/>
            </a:solidFill>
            <a:prstDash val="solid"/>
          </a:ln>
        </p:spPr>
      </p:sp>
      <p:sp>
        <p:nvSpPr>
          <p:cNvPr id="6" name="Text 4"/>
          <p:cNvSpPr txBox="1"/>
          <p:nvPr/>
        </p:nvSpPr>
        <p:spPr>
          <a:xfrm>
            <a:off x="4023360" y="1508760"/>
            <a:ext cx="411480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Balanceador + planificador</a:t>
            </a:r>
            <a:endParaRPr lang="en-US" sz="1400" dirty="0"/>
          </a:p>
        </p:txBody>
      </p:sp>
      <p:sp>
        <p:nvSpPr>
          <p:cNvPr id="7" name="Text 5"/>
          <p:cNvSpPr txBox="1"/>
          <p:nvPr/>
        </p:nvSpPr>
        <p:spPr>
          <a:xfrm>
            <a:off x="5623560" y="2103120"/>
            <a:ext cx="914400" cy="274320"/>
          </a:xfrm>
          <a:prstGeom prst="rect">
            <a:avLst/>
          </a:prstGeom>
          <a:noFill/>
          <a:ln/>
        </p:spPr>
        <p:txBody>
          <a:bodyPr wrap="square" lIns="0" tIns="0" rIns="0" bIns="0" rtlCol="0" anchor="ctr"/>
          <a:lstStyle/>
          <a:p>
            <a:pPr algn="ctr" indent="0" marL="0">
              <a:buNone/>
            </a:pPr>
            <a:r>
              <a:rPr lang="en-US" sz="1400" dirty="0">
                <a:solidFill>
                  <a:srgbClr val="10A37F"/>
                </a:solidFill>
                <a:latin typeface="Arial" pitchFamily="34" charset="0"/>
                <a:ea typeface="Arial" pitchFamily="34" charset="-122"/>
                <a:cs typeface="Arial" pitchFamily="34" charset="-120"/>
              </a:rPr>
              <a:t>▼</a:t>
            </a:r>
            <a:endParaRPr lang="en-US" sz="1400" dirty="0"/>
          </a:p>
        </p:txBody>
      </p:sp>
      <p:sp>
        <p:nvSpPr>
          <p:cNvPr id="8" name="Shape 6"/>
          <p:cNvSpPr/>
          <p:nvPr/>
        </p:nvSpPr>
        <p:spPr>
          <a:xfrm>
            <a:off x="914400" y="2468880"/>
            <a:ext cx="3200400" cy="1965960"/>
          </a:xfrm>
          <a:prstGeom prst="roundRect">
            <a:avLst>
              <a:gd name="adj" fmla="val 3721"/>
            </a:avLst>
          </a:prstGeom>
          <a:solidFill>
            <a:srgbClr val="12203A"/>
          </a:solidFill>
          <a:ln w="19050">
            <a:solidFill>
              <a:srgbClr val="10A37F"/>
            </a:solidFill>
            <a:prstDash val="solid"/>
          </a:ln>
        </p:spPr>
      </p:sp>
      <p:sp>
        <p:nvSpPr>
          <p:cNvPr id="9" name="Text 7"/>
          <p:cNvSpPr txBox="1"/>
          <p:nvPr/>
        </p:nvSpPr>
        <p:spPr>
          <a:xfrm>
            <a:off x="914400" y="2606040"/>
            <a:ext cx="3200400" cy="310896"/>
          </a:xfrm>
          <a:prstGeom prst="rect">
            <a:avLst/>
          </a:prstGeom>
          <a:noFill/>
          <a:ln/>
        </p:spPr>
        <p:txBody>
          <a:bodyPr wrap="square" lIns="0" tIns="0" rIns="0" bIns="0" rtlCol="0" anchor="ctr"/>
          <a:lstStyle/>
          <a:p>
            <a:pPr algn="ctr" indent="0" marL="0">
              <a:buNone/>
            </a:pPr>
            <a:r>
              <a:rPr lang="en-US" sz="1300" b="1" dirty="0">
                <a:solidFill>
                  <a:srgbClr val="10A37F"/>
                </a:solidFill>
                <a:latin typeface="Arial" pitchFamily="34" charset="0"/>
                <a:ea typeface="Arial" pitchFamily="34" charset="-122"/>
                <a:cs typeface="Arial" pitchFamily="34" charset="-120"/>
              </a:rPr>
              <a:t>Servidor 1</a:t>
            </a:r>
            <a:endParaRPr lang="en-US" sz="1300" dirty="0"/>
          </a:p>
        </p:txBody>
      </p:sp>
      <p:sp>
        <p:nvSpPr>
          <p:cNvPr id="10" name="Shape 8"/>
          <p:cNvSpPr/>
          <p:nvPr/>
        </p:nvSpPr>
        <p:spPr>
          <a:xfrm>
            <a:off x="1188720" y="3063240"/>
            <a:ext cx="1234440" cy="530352"/>
          </a:xfrm>
          <a:prstGeom prst="roundRect">
            <a:avLst>
              <a:gd name="adj" fmla="val 8621"/>
            </a:avLst>
          </a:prstGeom>
          <a:solidFill>
            <a:srgbClr val="273353"/>
          </a:solidFill>
          <a:ln w="12700">
            <a:solidFill>
              <a:srgbClr val="3D4E78"/>
            </a:solidFill>
            <a:prstDash val="solid"/>
          </a:ln>
        </p:spPr>
      </p:sp>
      <p:sp>
        <p:nvSpPr>
          <p:cNvPr id="11" name="Text 9"/>
          <p:cNvSpPr txBox="1"/>
          <p:nvPr/>
        </p:nvSpPr>
        <p:spPr>
          <a:xfrm>
            <a:off x="1188720" y="3063240"/>
            <a:ext cx="1234440"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GPU</a:t>
            </a:r>
            <a:endParaRPr lang="en-US" sz="1100" dirty="0"/>
          </a:p>
        </p:txBody>
      </p:sp>
      <p:sp>
        <p:nvSpPr>
          <p:cNvPr id="12" name="Shape 10"/>
          <p:cNvSpPr/>
          <p:nvPr/>
        </p:nvSpPr>
        <p:spPr>
          <a:xfrm>
            <a:off x="2606040" y="3063240"/>
            <a:ext cx="1234440" cy="530352"/>
          </a:xfrm>
          <a:prstGeom prst="roundRect">
            <a:avLst>
              <a:gd name="adj" fmla="val 8621"/>
            </a:avLst>
          </a:prstGeom>
          <a:solidFill>
            <a:srgbClr val="273353"/>
          </a:solidFill>
          <a:ln w="12700">
            <a:solidFill>
              <a:srgbClr val="3D4E78"/>
            </a:solidFill>
            <a:prstDash val="solid"/>
          </a:ln>
        </p:spPr>
      </p:sp>
      <p:sp>
        <p:nvSpPr>
          <p:cNvPr id="13" name="Text 11"/>
          <p:cNvSpPr txBox="1"/>
          <p:nvPr/>
        </p:nvSpPr>
        <p:spPr>
          <a:xfrm>
            <a:off x="2606040" y="3063240"/>
            <a:ext cx="1234440"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GPU</a:t>
            </a:r>
            <a:endParaRPr lang="en-US" sz="1100" dirty="0"/>
          </a:p>
        </p:txBody>
      </p:sp>
      <p:sp>
        <p:nvSpPr>
          <p:cNvPr id="14" name="Shape 12"/>
          <p:cNvSpPr/>
          <p:nvPr/>
        </p:nvSpPr>
        <p:spPr>
          <a:xfrm>
            <a:off x="1188720" y="3721608"/>
            <a:ext cx="1234440" cy="530352"/>
          </a:xfrm>
          <a:prstGeom prst="roundRect">
            <a:avLst>
              <a:gd name="adj" fmla="val 8621"/>
            </a:avLst>
          </a:prstGeom>
          <a:solidFill>
            <a:srgbClr val="273353"/>
          </a:solidFill>
          <a:ln w="12700">
            <a:solidFill>
              <a:srgbClr val="3D4E78"/>
            </a:solidFill>
            <a:prstDash val="solid"/>
          </a:ln>
        </p:spPr>
      </p:sp>
      <p:sp>
        <p:nvSpPr>
          <p:cNvPr id="15" name="Text 13"/>
          <p:cNvSpPr txBox="1"/>
          <p:nvPr/>
        </p:nvSpPr>
        <p:spPr>
          <a:xfrm>
            <a:off x="1188720" y="3721608"/>
            <a:ext cx="1234440"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GPU</a:t>
            </a:r>
            <a:endParaRPr lang="en-US" sz="1100" dirty="0"/>
          </a:p>
        </p:txBody>
      </p:sp>
      <p:sp>
        <p:nvSpPr>
          <p:cNvPr id="16" name="Shape 14"/>
          <p:cNvSpPr/>
          <p:nvPr/>
        </p:nvSpPr>
        <p:spPr>
          <a:xfrm>
            <a:off x="2606040" y="3721608"/>
            <a:ext cx="1234440" cy="530352"/>
          </a:xfrm>
          <a:prstGeom prst="roundRect">
            <a:avLst>
              <a:gd name="adj" fmla="val 8621"/>
            </a:avLst>
          </a:prstGeom>
          <a:solidFill>
            <a:srgbClr val="273353"/>
          </a:solidFill>
          <a:ln w="12700">
            <a:solidFill>
              <a:srgbClr val="3D4E78"/>
            </a:solidFill>
            <a:prstDash val="solid"/>
          </a:ln>
        </p:spPr>
      </p:sp>
      <p:sp>
        <p:nvSpPr>
          <p:cNvPr id="17" name="Text 15"/>
          <p:cNvSpPr txBox="1"/>
          <p:nvPr/>
        </p:nvSpPr>
        <p:spPr>
          <a:xfrm>
            <a:off x="2606040" y="3721608"/>
            <a:ext cx="1234440"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GPU</a:t>
            </a:r>
            <a:endParaRPr lang="en-US" sz="1100" dirty="0"/>
          </a:p>
        </p:txBody>
      </p:sp>
      <p:sp>
        <p:nvSpPr>
          <p:cNvPr id="18" name="Text 16"/>
          <p:cNvSpPr txBox="1"/>
          <p:nvPr/>
        </p:nvSpPr>
        <p:spPr>
          <a:xfrm>
            <a:off x="914400" y="4434840"/>
            <a:ext cx="3200400" cy="237744"/>
          </a:xfrm>
          <a:prstGeom prst="rect">
            <a:avLst/>
          </a:prstGeom>
          <a:noFill/>
          <a:ln/>
        </p:spPr>
        <p:txBody>
          <a:bodyPr wrap="square" lIns="0" tIns="0" rIns="0" bIns="0" rtlCol="0" anchor="ctr"/>
          <a:lstStyle/>
          <a:p>
            <a:pPr algn="ctr" indent="0" marL="0">
              <a:buNone/>
            </a:pPr>
            <a:r>
              <a:rPr lang="en-US" sz="1100" dirty="0">
                <a:solidFill>
                  <a:srgbClr val="A9B4CC"/>
                </a:solidFill>
                <a:latin typeface="Calibri" pitchFamily="34" charset="0"/>
                <a:ea typeface="Calibri" pitchFamily="34" charset="-122"/>
                <a:cs typeface="Calibri" pitchFamily="34" charset="-120"/>
              </a:rPr>
              <a:t>capas 1-40</a:t>
            </a:r>
            <a:endParaRPr lang="en-US" sz="1100" dirty="0"/>
          </a:p>
        </p:txBody>
      </p:sp>
      <p:sp>
        <p:nvSpPr>
          <p:cNvPr id="19" name="Shape 17"/>
          <p:cNvSpPr/>
          <p:nvPr/>
        </p:nvSpPr>
        <p:spPr>
          <a:xfrm>
            <a:off x="4114800" y="3456432"/>
            <a:ext cx="320040" cy="0"/>
          </a:xfrm>
          <a:prstGeom prst="line">
            <a:avLst/>
          </a:prstGeom>
          <a:noFill/>
          <a:ln w="38100">
            <a:solidFill>
              <a:srgbClr val="E8B04B"/>
            </a:solidFill>
            <a:prstDash val="solid"/>
          </a:ln>
        </p:spPr>
      </p:sp>
      <p:sp>
        <p:nvSpPr>
          <p:cNvPr id="20" name="Shape 18"/>
          <p:cNvSpPr/>
          <p:nvPr/>
        </p:nvSpPr>
        <p:spPr>
          <a:xfrm>
            <a:off x="4434840" y="2468880"/>
            <a:ext cx="3200400" cy="1965960"/>
          </a:xfrm>
          <a:prstGeom prst="roundRect">
            <a:avLst>
              <a:gd name="adj" fmla="val 3721"/>
            </a:avLst>
          </a:prstGeom>
          <a:solidFill>
            <a:srgbClr val="12203A"/>
          </a:solidFill>
          <a:ln w="19050">
            <a:solidFill>
              <a:srgbClr val="10A37F"/>
            </a:solidFill>
            <a:prstDash val="solid"/>
          </a:ln>
        </p:spPr>
      </p:sp>
      <p:sp>
        <p:nvSpPr>
          <p:cNvPr id="21" name="Text 19"/>
          <p:cNvSpPr txBox="1"/>
          <p:nvPr/>
        </p:nvSpPr>
        <p:spPr>
          <a:xfrm>
            <a:off x="4434840" y="2606040"/>
            <a:ext cx="3200400" cy="310896"/>
          </a:xfrm>
          <a:prstGeom prst="rect">
            <a:avLst/>
          </a:prstGeom>
          <a:noFill/>
          <a:ln/>
        </p:spPr>
        <p:txBody>
          <a:bodyPr wrap="square" lIns="0" tIns="0" rIns="0" bIns="0" rtlCol="0" anchor="ctr"/>
          <a:lstStyle/>
          <a:p>
            <a:pPr algn="ctr" indent="0" marL="0">
              <a:buNone/>
            </a:pPr>
            <a:r>
              <a:rPr lang="en-US" sz="1300" b="1" dirty="0">
                <a:solidFill>
                  <a:srgbClr val="10A37F"/>
                </a:solidFill>
                <a:latin typeface="Arial" pitchFamily="34" charset="0"/>
                <a:ea typeface="Arial" pitchFamily="34" charset="-122"/>
                <a:cs typeface="Arial" pitchFamily="34" charset="-120"/>
              </a:rPr>
              <a:t>Servidor 2</a:t>
            </a:r>
            <a:endParaRPr lang="en-US" sz="1300" dirty="0"/>
          </a:p>
        </p:txBody>
      </p:sp>
      <p:sp>
        <p:nvSpPr>
          <p:cNvPr id="22" name="Shape 20"/>
          <p:cNvSpPr/>
          <p:nvPr/>
        </p:nvSpPr>
        <p:spPr>
          <a:xfrm>
            <a:off x="4709160" y="3063240"/>
            <a:ext cx="1234440" cy="530352"/>
          </a:xfrm>
          <a:prstGeom prst="roundRect">
            <a:avLst>
              <a:gd name="adj" fmla="val 8621"/>
            </a:avLst>
          </a:prstGeom>
          <a:solidFill>
            <a:srgbClr val="273353"/>
          </a:solidFill>
          <a:ln w="12700">
            <a:solidFill>
              <a:srgbClr val="3D4E78"/>
            </a:solidFill>
            <a:prstDash val="solid"/>
          </a:ln>
        </p:spPr>
      </p:sp>
      <p:sp>
        <p:nvSpPr>
          <p:cNvPr id="23" name="Text 21"/>
          <p:cNvSpPr txBox="1"/>
          <p:nvPr/>
        </p:nvSpPr>
        <p:spPr>
          <a:xfrm>
            <a:off x="4709160" y="3063240"/>
            <a:ext cx="1234440"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GPU</a:t>
            </a:r>
            <a:endParaRPr lang="en-US" sz="1100" dirty="0"/>
          </a:p>
        </p:txBody>
      </p:sp>
      <p:sp>
        <p:nvSpPr>
          <p:cNvPr id="24" name="Shape 22"/>
          <p:cNvSpPr/>
          <p:nvPr/>
        </p:nvSpPr>
        <p:spPr>
          <a:xfrm>
            <a:off x="6126480" y="3063240"/>
            <a:ext cx="1234440" cy="530352"/>
          </a:xfrm>
          <a:prstGeom prst="roundRect">
            <a:avLst>
              <a:gd name="adj" fmla="val 8621"/>
            </a:avLst>
          </a:prstGeom>
          <a:solidFill>
            <a:srgbClr val="273353"/>
          </a:solidFill>
          <a:ln w="12700">
            <a:solidFill>
              <a:srgbClr val="3D4E78"/>
            </a:solidFill>
            <a:prstDash val="solid"/>
          </a:ln>
        </p:spPr>
      </p:sp>
      <p:sp>
        <p:nvSpPr>
          <p:cNvPr id="25" name="Text 23"/>
          <p:cNvSpPr txBox="1"/>
          <p:nvPr/>
        </p:nvSpPr>
        <p:spPr>
          <a:xfrm>
            <a:off x="6126480" y="3063240"/>
            <a:ext cx="1234440"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GPU</a:t>
            </a:r>
            <a:endParaRPr lang="en-US" sz="1100" dirty="0"/>
          </a:p>
        </p:txBody>
      </p:sp>
      <p:sp>
        <p:nvSpPr>
          <p:cNvPr id="26" name="Shape 24"/>
          <p:cNvSpPr/>
          <p:nvPr/>
        </p:nvSpPr>
        <p:spPr>
          <a:xfrm>
            <a:off x="4709160" y="3721608"/>
            <a:ext cx="1234440" cy="530352"/>
          </a:xfrm>
          <a:prstGeom prst="roundRect">
            <a:avLst>
              <a:gd name="adj" fmla="val 8621"/>
            </a:avLst>
          </a:prstGeom>
          <a:solidFill>
            <a:srgbClr val="273353"/>
          </a:solidFill>
          <a:ln w="12700">
            <a:solidFill>
              <a:srgbClr val="3D4E78"/>
            </a:solidFill>
            <a:prstDash val="solid"/>
          </a:ln>
        </p:spPr>
      </p:sp>
      <p:sp>
        <p:nvSpPr>
          <p:cNvPr id="27" name="Text 25"/>
          <p:cNvSpPr txBox="1"/>
          <p:nvPr/>
        </p:nvSpPr>
        <p:spPr>
          <a:xfrm>
            <a:off x="4709160" y="3721608"/>
            <a:ext cx="1234440"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GPU</a:t>
            </a:r>
            <a:endParaRPr lang="en-US" sz="1100" dirty="0"/>
          </a:p>
        </p:txBody>
      </p:sp>
      <p:sp>
        <p:nvSpPr>
          <p:cNvPr id="28" name="Shape 26"/>
          <p:cNvSpPr/>
          <p:nvPr/>
        </p:nvSpPr>
        <p:spPr>
          <a:xfrm>
            <a:off x="6126480" y="3721608"/>
            <a:ext cx="1234440" cy="530352"/>
          </a:xfrm>
          <a:prstGeom prst="roundRect">
            <a:avLst>
              <a:gd name="adj" fmla="val 8621"/>
            </a:avLst>
          </a:prstGeom>
          <a:solidFill>
            <a:srgbClr val="273353"/>
          </a:solidFill>
          <a:ln w="12700">
            <a:solidFill>
              <a:srgbClr val="3D4E78"/>
            </a:solidFill>
            <a:prstDash val="solid"/>
          </a:ln>
        </p:spPr>
      </p:sp>
      <p:sp>
        <p:nvSpPr>
          <p:cNvPr id="29" name="Text 27"/>
          <p:cNvSpPr txBox="1"/>
          <p:nvPr/>
        </p:nvSpPr>
        <p:spPr>
          <a:xfrm>
            <a:off x="6126480" y="3721608"/>
            <a:ext cx="1234440"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GPU</a:t>
            </a:r>
            <a:endParaRPr lang="en-US" sz="1100" dirty="0"/>
          </a:p>
        </p:txBody>
      </p:sp>
      <p:sp>
        <p:nvSpPr>
          <p:cNvPr id="30" name="Text 28"/>
          <p:cNvSpPr txBox="1"/>
          <p:nvPr/>
        </p:nvSpPr>
        <p:spPr>
          <a:xfrm>
            <a:off x="4434840" y="4434840"/>
            <a:ext cx="3200400" cy="237744"/>
          </a:xfrm>
          <a:prstGeom prst="rect">
            <a:avLst/>
          </a:prstGeom>
          <a:noFill/>
          <a:ln/>
        </p:spPr>
        <p:txBody>
          <a:bodyPr wrap="square" lIns="0" tIns="0" rIns="0" bIns="0" rtlCol="0" anchor="ctr"/>
          <a:lstStyle/>
          <a:p>
            <a:pPr algn="ctr" indent="0" marL="0">
              <a:buNone/>
            </a:pPr>
            <a:r>
              <a:rPr lang="en-US" sz="1100" dirty="0">
                <a:solidFill>
                  <a:srgbClr val="A9B4CC"/>
                </a:solidFill>
                <a:latin typeface="Calibri" pitchFamily="34" charset="0"/>
                <a:ea typeface="Calibri" pitchFamily="34" charset="-122"/>
                <a:cs typeface="Calibri" pitchFamily="34" charset="-120"/>
              </a:rPr>
              <a:t>capas 41-80</a:t>
            </a:r>
            <a:endParaRPr lang="en-US" sz="1100" dirty="0"/>
          </a:p>
        </p:txBody>
      </p:sp>
      <p:sp>
        <p:nvSpPr>
          <p:cNvPr id="31" name="Shape 29"/>
          <p:cNvSpPr/>
          <p:nvPr/>
        </p:nvSpPr>
        <p:spPr>
          <a:xfrm>
            <a:off x="7635240" y="3456432"/>
            <a:ext cx="320040" cy="0"/>
          </a:xfrm>
          <a:prstGeom prst="line">
            <a:avLst/>
          </a:prstGeom>
          <a:noFill/>
          <a:ln w="38100">
            <a:solidFill>
              <a:srgbClr val="E8B04B"/>
            </a:solidFill>
            <a:prstDash val="solid"/>
          </a:ln>
        </p:spPr>
      </p:sp>
      <p:sp>
        <p:nvSpPr>
          <p:cNvPr id="32" name="Shape 30"/>
          <p:cNvSpPr/>
          <p:nvPr/>
        </p:nvSpPr>
        <p:spPr>
          <a:xfrm>
            <a:off x="7955280" y="2468880"/>
            <a:ext cx="3200400" cy="1965960"/>
          </a:xfrm>
          <a:prstGeom prst="roundRect">
            <a:avLst>
              <a:gd name="adj" fmla="val 3721"/>
            </a:avLst>
          </a:prstGeom>
          <a:solidFill>
            <a:srgbClr val="12203A"/>
          </a:solidFill>
          <a:ln w="19050">
            <a:solidFill>
              <a:srgbClr val="10A37F"/>
            </a:solidFill>
            <a:prstDash val="solid"/>
          </a:ln>
        </p:spPr>
      </p:sp>
      <p:sp>
        <p:nvSpPr>
          <p:cNvPr id="33" name="Text 31"/>
          <p:cNvSpPr txBox="1"/>
          <p:nvPr/>
        </p:nvSpPr>
        <p:spPr>
          <a:xfrm>
            <a:off x="7955280" y="2606040"/>
            <a:ext cx="3200400" cy="310896"/>
          </a:xfrm>
          <a:prstGeom prst="rect">
            <a:avLst/>
          </a:prstGeom>
          <a:noFill/>
          <a:ln/>
        </p:spPr>
        <p:txBody>
          <a:bodyPr wrap="square" lIns="0" tIns="0" rIns="0" bIns="0" rtlCol="0" anchor="ctr"/>
          <a:lstStyle/>
          <a:p>
            <a:pPr algn="ctr" indent="0" marL="0">
              <a:buNone/>
            </a:pPr>
            <a:r>
              <a:rPr lang="en-US" sz="1300" b="1" dirty="0">
                <a:solidFill>
                  <a:srgbClr val="10A37F"/>
                </a:solidFill>
                <a:latin typeface="Arial" pitchFamily="34" charset="0"/>
                <a:ea typeface="Arial" pitchFamily="34" charset="-122"/>
                <a:cs typeface="Arial" pitchFamily="34" charset="-120"/>
              </a:rPr>
              <a:t>Servidor 3</a:t>
            </a:r>
            <a:endParaRPr lang="en-US" sz="1300" dirty="0"/>
          </a:p>
        </p:txBody>
      </p:sp>
      <p:sp>
        <p:nvSpPr>
          <p:cNvPr id="34" name="Shape 32"/>
          <p:cNvSpPr/>
          <p:nvPr/>
        </p:nvSpPr>
        <p:spPr>
          <a:xfrm>
            <a:off x="8229600" y="3063240"/>
            <a:ext cx="1234440" cy="530352"/>
          </a:xfrm>
          <a:prstGeom prst="roundRect">
            <a:avLst>
              <a:gd name="adj" fmla="val 8621"/>
            </a:avLst>
          </a:prstGeom>
          <a:solidFill>
            <a:srgbClr val="273353"/>
          </a:solidFill>
          <a:ln w="12700">
            <a:solidFill>
              <a:srgbClr val="3D4E78"/>
            </a:solidFill>
            <a:prstDash val="solid"/>
          </a:ln>
        </p:spPr>
      </p:sp>
      <p:sp>
        <p:nvSpPr>
          <p:cNvPr id="35" name="Text 33"/>
          <p:cNvSpPr txBox="1"/>
          <p:nvPr/>
        </p:nvSpPr>
        <p:spPr>
          <a:xfrm>
            <a:off x="8229600" y="3063240"/>
            <a:ext cx="1234440"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GPU</a:t>
            </a:r>
            <a:endParaRPr lang="en-US" sz="1100" dirty="0"/>
          </a:p>
        </p:txBody>
      </p:sp>
      <p:sp>
        <p:nvSpPr>
          <p:cNvPr id="36" name="Shape 34"/>
          <p:cNvSpPr/>
          <p:nvPr/>
        </p:nvSpPr>
        <p:spPr>
          <a:xfrm>
            <a:off x="9646920" y="3063240"/>
            <a:ext cx="1234440" cy="530352"/>
          </a:xfrm>
          <a:prstGeom prst="roundRect">
            <a:avLst>
              <a:gd name="adj" fmla="val 8621"/>
            </a:avLst>
          </a:prstGeom>
          <a:solidFill>
            <a:srgbClr val="273353"/>
          </a:solidFill>
          <a:ln w="12700">
            <a:solidFill>
              <a:srgbClr val="3D4E78"/>
            </a:solidFill>
            <a:prstDash val="solid"/>
          </a:ln>
        </p:spPr>
      </p:sp>
      <p:sp>
        <p:nvSpPr>
          <p:cNvPr id="37" name="Text 35"/>
          <p:cNvSpPr txBox="1"/>
          <p:nvPr/>
        </p:nvSpPr>
        <p:spPr>
          <a:xfrm>
            <a:off x="9646920" y="3063240"/>
            <a:ext cx="1234440"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GPU</a:t>
            </a:r>
            <a:endParaRPr lang="en-US" sz="1100" dirty="0"/>
          </a:p>
        </p:txBody>
      </p:sp>
      <p:sp>
        <p:nvSpPr>
          <p:cNvPr id="38" name="Shape 36"/>
          <p:cNvSpPr/>
          <p:nvPr/>
        </p:nvSpPr>
        <p:spPr>
          <a:xfrm>
            <a:off x="8229600" y="3721608"/>
            <a:ext cx="1234440" cy="530352"/>
          </a:xfrm>
          <a:prstGeom prst="roundRect">
            <a:avLst>
              <a:gd name="adj" fmla="val 8621"/>
            </a:avLst>
          </a:prstGeom>
          <a:solidFill>
            <a:srgbClr val="273353"/>
          </a:solidFill>
          <a:ln w="12700">
            <a:solidFill>
              <a:srgbClr val="3D4E78"/>
            </a:solidFill>
            <a:prstDash val="solid"/>
          </a:ln>
        </p:spPr>
      </p:sp>
      <p:sp>
        <p:nvSpPr>
          <p:cNvPr id="39" name="Text 37"/>
          <p:cNvSpPr txBox="1"/>
          <p:nvPr/>
        </p:nvSpPr>
        <p:spPr>
          <a:xfrm>
            <a:off x="8229600" y="3721608"/>
            <a:ext cx="1234440"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GPU</a:t>
            </a:r>
            <a:endParaRPr lang="en-US" sz="1100" dirty="0"/>
          </a:p>
        </p:txBody>
      </p:sp>
      <p:sp>
        <p:nvSpPr>
          <p:cNvPr id="40" name="Shape 38"/>
          <p:cNvSpPr/>
          <p:nvPr/>
        </p:nvSpPr>
        <p:spPr>
          <a:xfrm>
            <a:off x="9646920" y="3721608"/>
            <a:ext cx="1234440" cy="530352"/>
          </a:xfrm>
          <a:prstGeom prst="roundRect">
            <a:avLst>
              <a:gd name="adj" fmla="val 8621"/>
            </a:avLst>
          </a:prstGeom>
          <a:solidFill>
            <a:srgbClr val="273353"/>
          </a:solidFill>
          <a:ln w="12700">
            <a:solidFill>
              <a:srgbClr val="3D4E78"/>
            </a:solidFill>
            <a:prstDash val="solid"/>
          </a:ln>
        </p:spPr>
      </p:sp>
      <p:sp>
        <p:nvSpPr>
          <p:cNvPr id="41" name="Text 39"/>
          <p:cNvSpPr txBox="1"/>
          <p:nvPr/>
        </p:nvSpPr>
        <p:spPr>
          <a:xfrm>
            <a:off x="9646920" y="3721608"/>
            <a:ext cx="1234440"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GPU</a:t>
            </a:r>
            <a:endParaRPr lang="en-US" sz="1100" dirty="0"/>
          </a:p>
        </p:txBody>
      </p:sp>
      <p:sp>
        <p:nvSpPr>
          <p:cNvPr id="42" name="Text 40"/>
          <p:cNvSpPr txBox="1"/>
          <p:nvPr/>
        </p:nvSpPr>
        <p:spPr>
          <a:xfrm>
            <a:off x="7955280" y="4434840"/>
            <a:ext cx="3200400" cy="237744"/>
          </a:xfrm>
          <a:prstGeom prst="rect">
            <a:avLst/>
          </a:prstGeom>
          <a:noFill/>
          <a:ln/>
        </p:spPr>
        <p:txBody>
          <a:bodyPr wrap="square" lIns="0" tIns="0" rIns="0" bIns="0" rtlCol="0" anchor="ctr"/>
          <a:lstStyle/>
          <a:p>
            <a:pPr algn="ctr" indent="0" marL="0">
              <a:buNone/>
            </a:pPr>
            <a:r>
              <a:rPr lang="en-US" sz="1100" dirty="0">
                <a:solidFill>
                  <a:srgbClr val="A9B4CC"/>
                </a:solidFill>
                <a:latin typeface="Calibri" pitchFamily="34" charset="0"/>
                <a:ea typeface="Calibri" pitchFamily="34" charset="-122"/>
                <a:cs typeface="Calibri" pitchFamily="34" charset="-120"/>
              </a:rPr>
              <a:t>capas 81-120</a:t>
            </a:r>
            <a:endParaRPr lang="en-US" sz="1100" dirty="0"/>
          </a:p>
        </p:txBody>
      </p:sp>
      <p:sp>
        <p:nvSpPr>
          <p:cNvPr id="43" name="Text 41"/>
          <p:cNvSpPr txBox="1"/>
          <p:nvPr/>
        </p:nvSpPr>
        <p:spPr>
          <a:xfrm>
            <a:off x="457200" y="4754880"/>
            <a:ext cx="11274552" cy="310896"/>
          </a:xfrm>
          <a:prstGeom prst="rect">
            <a:avLst/>
          </a:prstGeom>
          <a:noFill/>
          <a:ln/>
        </p:spPr>
        <p:txBody>
          <a:bodyPr wrap="square" lIns="0" tIns="0" rIns="0" bIns="0" rtlCol="0" anchor="ctr"/>
          <a:lstStyle/>
          <a:p>
            <a:pPr algn="ctr" indent="0" marL="0">
              <a:buNone/>
            </a:pPr>
            <a:r>
              <a:rPr lang="en-US" sz="1300" b="1" dirty="0">
                <a:solidFill>
                  <a:srgbClr val="E8B04B"/>
                </a:solidFill>
                <a:latin typeface="Arial" pitchFamily="34" charset="0"/>
                <a:ea typeface="Arial" pitchFamily="34" charset="-122"/>
                <a:cs typeface="Arial" pitchFamily="34" charset="-120"/>
              </a:rPr>
              <a:t>conectados por red de alta velocidad · el modelo no cabe en una sola GPU</a:t>
            </a:r>
            <a:endParaRPr lang="en-US" sz="1300" dirty="0"/>
          </a:p>
        </p:txBody>
      </p:sp>
      <p:sp>
        <p:nvSpPr>
          <p:cNvPr id="44" name="Shape 42"/>
          <p:cNvSpPr/>
          <p:nvPr/>
        </p:nvSpPr>
        <p:spPr>
          <a:xfrm>
            <a:off x="1463040" y="5486400"/>
            <a:ext cx="2834640" cy="566928"/>
          </a:xfrm>
          <a:prstGeom prst="roundRect">
            <a:avLst>
              <a:gd name="adj" fmla="val 16129"/>
            </a:avLst>
          </a:prstGeom>
          <a:solidFill>
            <a:srgbClr val="273353"/>
          </a:solidFill>
          <a:ln w="12700">
            <a:solidFill>
              <a:srgbClr val="5B8DEF"/>
            </a:solidFill>
            <a:prstDash val="solid"/>
          </a:ln>
        </p:spPr>
      </p:sp>
      <p:sp>
        <p:nvSpPr>
          <p:cNvPr id="45" name="Text 43"/>
          <p:cNvSpPr txBox="1"/>
          <p:nvPr/>
        </p:nvSpPr>
        <p:spPr>
          <a:xfrm>
            <a:off x="1463040" y="5486400"/>
            <a:ext cx="283464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Latencia</a:t>
            </a:r>
            <a:endParaRPr lang="en-US" sz="1400" dirty="0"/>
          </a:p>
        </p:txBody>
      </p:sp>
      <p:sp>
        <p:nvSpPr>
          <p:cNvPr id="46" name="Shape 44"/>
          <p:cNvSpPr/>
          <p:nvPr/>
        </p:nvSpPr>
        <p:spPr>
          <a:xfrm>
            <a:off x="4663440" y="5486400"/>
            <a:ext cx="2834640" cy="566928"/>
          </a:xfrm>
          <a:prstGeom prst="roundRect">
            <a:avLst>
              <a:gd name="adj" fmla="val 16129"/>
            </a:avLst>
          </a:prstGeom>
          <a:solidFill>
            <a:srgbClr val="273353"/>
          </a:solidFill>
          <a:ln w="12700">
            <a:solidFill>
              <a:srgbClr val="5B8DEF"/>
            </a:solidFill>
            <a:prstDash val="solid"/>
          </a:ln>
        </p:spPr>
      </p:sp>
      <p:sp>
        <p:nvSpPr>
          <p:cNvPr id="47" name="Text 45"/>
          <p:cNvSpPr txBox="1"/>
          <p:nvPr/>
        </p:nvSpPr>
        <p:spPr>
          <a:xfrm>
            <a:off x="4663440" y="5486400"/>
            <a:ext cx="283464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Tolerancia a fallos</a:t>
            </a:r>
            <a:endParaRPr lang="en-US" sz="1400" dirty="0"/>
          </a:p>
        </p:txBody>
      </p:sp>
      <p:sp>
        <p:nvSpPr>
          <p:cNvPr id="48" name="Shape 46"/>
          <p:cNvSpPr/>
          <p:nvPr/>
        </p:nvSpPr>
        <p:spPr>
          <a:xfrm>
            <a:off x="7863840" y="5486400"/>
            <a:ext cx="2834640" cy="566928"/>
          </a:xfrm>
          <a:prstGeom prst="roundRect">
            <a:avLst>
              <a:gd name="adj" fmla="val 16129"/>
            </a:avLst>
          </a:prstGeom>
          <a:solidFill>
            <a:srgbClr val="273353"/>
          </a:solidFill>
          <a:ln w="12700">
            <a:solidFill>
              <a:srgbClr val="5B8DEF"/>
            </a:solidFill>
            <a:prstDash val="solid"/>
          </a:ln>
        </p:spPr>
      </p:sp>
      <p:sp>
        <p:nvSpPr>
          <p:cNvPr id="49" name="Text 47"/>
          <p:cNvSpPr txBox="1"/>
          <p:nvPr/>
        </p:nvSpPr>
        <p:spPr>
          <a:xfrm>
            <a:off x="7863840" y="5486400"/>
            <a:ext cx="283464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Coherencia</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628"/>
        </a:solidFill>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oundRect">
            <a:avLst>
              <a:gd name="adj" fmla="val 37500"/>
            </a:avLst>
          </a:prstGeom>
          <a:solidFill>
            <a:srgbClr val="10A37F"/>
          </a:solidFill>
          <a:ln w="12700">
            <a:solidFill>
              <a:srgbClr val="10A37F"/>
            </a:solidFill>
            <a:prstDash val="solid"/>
          </a:ln>
        </p:spPr>
      </p:sp>
      <p:sp>
        <p:nvSpPr>
          <p:cNvPr id="3" name="Text 1"/>
          <p:cNvSpPr txBox="1"/>
          <p:nvPr/>
        </p:nvSpPr>
        <p:spPr>
          <a:xfrm>
            <a:off x="731520" y="310896"/>
            <a:ext cx="10881360" cy="621792"/>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El sistema operativo decide</a:t>
            </a:r>
            <a:endParaRPr lang="en-US" sz="3200" dirty="0"/>
          </a:p>
        </p:txBody>
      </p:sp>
      <p:sp>
        <p:nvSpPr>
          <p:cNvPr id="4" name="Shape 2"/>
          <p:cNvSpPr/>
          <p:nvPr/>
        </p:nvSpPr>
        <p:spPr>
          <a:xfrm>
            <a:off x="457200" y="1280160"/>
            <a:ext cx="5532120" cy="4846320"/>
          </a:xfrm>
          <a:prstGeom prst="roundRect">
            <a:avLst>
              <a:gd name="adj" fmla="val 1509"/>
            </a:avLst>
          </a:prstGeom>
          <a:solidFill>
            <a:srgbClr val="1B2540"/>
          </a:solidFill>
          <a:ln w="12700">
            <a:solidFill>
              <a:srgbClr val="273353"/>
            </a:solidFill>
            <a:prstDash val="solid"/>
          </a:ln>
        </p:spPr>
      </p:sp>
      <p:sp>
        <p:nvSpPr>
          <p:cNvPr id="5" name="Text 3"/>
          <p:cNvSpPr txBox="1"/>
          <p:nvPr/>
        </p:nvSpPr>
        <p:spPr>
          <a:xfrm>
            <a:off x="457200" y="1508760"/>
            <a:ext cx="5532120" cy="310896"/>
          </a:xfrm>
          <a:prstGeom prst="rect">
            <a:avLst/>
          </a:prstGeom>
          <a:noFill/>
          <a:ln/>
        </p:spPr>
        <p:txBody>
          <a:bodyPr wrap="square" lIns="0" tIns="0" rIns="0" bIns="0" rtlCol="0" anchor="ctr"/>
          <a:lstStyle/>
          <a:p>
            <a:pPr algn="ctr" indent="0" marL="0">
              <a:buNone/>
            </a:pPr>
            <a:r>
              <a:rPr lang="en-US" sz="1300" b="1" dirty="0">
                <a:solidFill>
                  <a:srgbClr val="5B8DEF"/>
                </a:solidFill>
                <a:latin typeface="Arial" pitchFamily="34" charset="0"/>
                <a:ea typeface="Arial" pitchFamily="34" charset="-122"/>
                <a:cs typeface="Arial" pitchFamily="34" charset="-120"/>
              </a:rPr>
              <a:t>MÁS TAREAS QUE NÚCLEOS</a:t>
            </a:r>
            <a:endParaRPr lang="en-US" sz="1300" dirty="0"/>
          </a:p>
        </p:txBody>
      </p:sp>
      <p:sp>
        <p:nvSpPr>
          <p:cNvPr id="6" name="Shape 4"/>
          <p:cNvSpPr/>
          <p:nvPr/>
        </p:nvSpPr>
        <p:spPr>
          <a:xfrm>
            <a:off x="868680" y="2011680"/>
            <a:ext cx="1024128" cy="438912"/>
          </a:xfrm>
          <a:prstGeom prst="roundRect">
            <a:avLst>
              <a:gd name="adj" fmla="val 10417"/>
            </a:avLst>
          </a:prstGeom>
          <a:solidFill>
            <a:srgbClr val="273353"/>
          </a:solidFill>
          <a:ln w="12700">
            <a:solidFill>
              <a:srgbClr val="273353"/>
            </a:solidFill>
            <a:prstDash val="solid"/>
          </a:ln>
        </p:spPr>
      </p:sp>
      <p:sp>
        <p:nvSpPr>
          <p:cNvPr id="7" name="Text 5"/>
          <p:cNvSpPr txBox="1"/>
          <p:nvPr/>
        </p:nvSpPr>
        <p:spPr>
          <a:xfrm>
            <a:off x="868680" y="2011680"/>
            <a:ext cx="1024128" cy="43891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tarea</a:t>
            </a:r>
            <a:endParaRPr lang="en-US" sz="1100" dirty="0"/>
          </a:p>
        </p:txBody>
      </p:sp>
      <p:sp>
        <p:nvSpPr>
          <p:cNvPr id="8" name="Shape 6"/>
          <p:cNvSpPr/>
          <p:nvPr/>
        </p:nvSpPr>
        <p:spPr>
          <a:xfrm>
            <a:off x="2075688" y="2011680"/>
            <a:ext cx="1024128" cy="438912"/>
          </a:xfrm>
          <a:prstGeom prst="roundRect">
            <a:avLst>
              <a:gd name="adj" fmla="val 10417"/>
            </a:avLst>
          </a:prstGeom>
          <a:solidFill>
            <a:srgbClr val="273353"/>
          </a:solidFill>
          <a:ln w="12700">
            <a:solidFill>
              <a:srgbClr val="273353"/>
            </a:solidFill>
            <a:prstDash val="solid"/>
          </a:ln>
        </p:spPr>
      </p:sp>
      <p:sp>
        <p:nvSpPr>
          <p:cNvPr id="9" name="Text 7"/>
          <p:cNvSpPr txBox="1"/>
          <p:nvPr/>
        </p:nvSpPr>
        <p:spPr>
          <a:xfrm>
            <a:off x="2075688" y="2011680"/>
            <a:ext cx="1024128" cy="43891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tarea</a:t>
            </a:r>
            <a:endParaRPr lang="en-US" sz="1100" dirty="0"/>
          </a:p>
        </p:txBody>
      </p:sp>
      <p:sp>
        <p:nvSpPr>
          <p:cNvPr id="10" name="Shape 8"/>
          <p:cNvSpPr/>
          <p:nvPr/>
        </p:nvSpPr>
        <p:spPr>
          <a:xfrm>
            <a:off x="3282696" y="2011680"/>
            <a:ext cx="1024128" cy="438912"/>
          </a:xfrm>
          <a:prstGeom prst="roundRect">
            <a:avLst>
              <a:gd name="adj" fmla="val 10417"/>
            </a:avLst>
          </a:prstGeom>
          <a:solidFill>
            <a:srgbClr val="273353"/>
          </a:solidFill>
          <a:ln w="12700">
            <a:solidFill>
              <a:srgbClr val="273353"/>
            </a:solidFill>
            <a:prstDash val="solid"/>
          </a:ln>
        </p:spPr>
      </p:sp>
      <p:sp>
        <p:nvSpPr>
          <p:cNvPr id="11" name="Text 9"/>
          <p:cNvSpPr txBox="1"/>
          <p:nvPr/>
        </p:nvSpPr>
        <p:spPr>
          <a:xfrm>
            <a:off x="3282696" y="2011680"/>
            <a:ext cx="1024128" cy="43891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tarea</a:t>
            </a:r>
            <a:endParaRPr lang="en-US" sz="1100" dirty="0"/>
          </a:p>
        </p:txBody>
      </p:sp>
      <p:sp>
        <p:nvSpPr>
          <p:cNvPr id="12" name="Shape 10"/>
          <p:cNvSpPr/>
          <p:nvPr/>
        </p:nvSpPr>
        <p:spPr>
          <a:xfrm>
            <a:off x="4489704" y="2011680"/>
            <a:ext cx="1024128" cy="438912"/>
          </a:xfrm>
          <a:prstGeom prst="roundRect">
            <a:avLst>
              <a:gd name="adj" fmla="val 10417"/>
            </a:avLst>
          </a:prstGeom>
          <a:solidFill>
            <a:srgbClr val="273353"/>
          </a:solidFill>
          <a:ln w="12700">
            <a:solidFill>
              <a:srgbClr val="273353"/>
            </a:solidFill>
            <a:prstDash val="solid"/>
          </a:ln>
        </p:spPr>
      </p:sp>
      <p:sp>
        <p:nvSpPr>
          <p:cNvPr id="13" name="Text 11"/>
          <p:cNvSpPr txBox="1"/>
          <p:nvPr/>
        </p:nvSpPr>
        <p:spPr>
          <a:xfrm>
            <a:off x="4489704" y="2011680"/>
            <a:ext cx="1024128" cy="43891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tarea</a:t>
            </a:r>
            <a:endParaRPr lang="en-US" sz="1100" dirty="0"/>
          </a:p>
        </p:txBody>
      </p:sp>
      <p:sp>
        <p:nvSpPr>
          <p:cNvPr id="14" name="Shape 12"/>
          <p:cNvSpPr/>
          <p:nvPr/>
        </p:nvSpPr>
        <p:spPr>
          <a:xfrm>
            <a:off x="868680" y="2578608"/>
            <a:ext cx="1024128" cy="438912"/>
          </a:xfrm>
          <a:prstGeom prst="roundRect">
            <a:avLst>
              <a:gd name="adj" fmla="val 10417"/>
            </a:avLst>
          </a:prstGeom>
          <a:solidFill>
            <a:srgbClr val="273353"/>
          </a:solidFill>
          <a:ln w="12700">
            <a:solidFill>
              <a:srgbClr val="273353"/>
            </a:solidFill>
            <a:prstDash val="solid"/>
          </a:ln>
        </p:spPr>
      </p:sp>
      <p:sp>
        <p:nvSpPr>
          <p:cNvPr id="15" name="Text 13"/>
          <p:cNvSpPr txBox="1"/>
          <p:nvPr/>
        </p:nvSpPr>
        <p:spPr>
          <a:xfrm>
            <a:off x="868680" y="2578608"/>
            <a:ext cx="1024128" cy="43891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tarea</a:t>
            </a:r>
            <a:endParaRPr lang="en-US" sz="1100" dirty="0"/>
          </a:p>
        </p:txBody>
      </p:sp>
      <p:sp>
        <p:nvSpPr>
          <p:cNvPr id="16" name="Shape 14"/>
          <p:cNvSpPr/>
          <p:nvPr/>
        </p:nvSpPr>
        <p:spPr>
          <a:xfrm>
            <a:off x="2075688" y="2578608"/>
            <a:ext cx="1024128" cy="438912"/>
          </a:xfrm>
          <a:prstGeom prst="roundRect">
            <a:avLst>
              <a:gd name="adj" fmla="val 10417"/>
            </a:avLst>
          </a:prstGeom>
          <a:solidFill>
            <a:srgbClr val="273353"/>
          </a:solidFill>
          <a:ln w="12700">
            <a:solidFill>
              <a:srgbClr val="273353"/>
            </a:solidFill>
            <a:prstDash val="solid"/>
          </a:ln>
        </p:spPr>
      </p:sp>
      <p:sp>
        <p:nvSpPr>
          <p:cNvPr id="17" name="Text 15"/>
          <p:cNvSpPr txBox="1"/>
          <p:nvPr/>
        </p:nvSpPr>
        <p:spPr>
          <a:xfrm>
            <a:off x="2075688" y="2578608"/>
            <a:ext cx="1024128" cy="43891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tarea</a:t>
            </a:r>
            <a:endParaRPr lang="en-US" sz="1100" dirty="0"/>
          </a:p>
        </p:txBody>
      </p:sp>
      <p:sp>
        <p:nvSpPr>
          <p:cNvPr id="18" name="Shape 16"/>
          <p:cNvSpPr/>
          <p:nvPr/>
        </p:nvSpPr>
        <p:spPr>
          <a:xfrm>
            <a:off x="3282696" y="2578608"/>
            <a:ext cx="1024128" cy="438912"/>
          </a:xfrm>
          <a:prstGeom prst="roundRect">
            <a:avLst>
              <a:gd name="adj" fmla="val 10417"/>
            </a:avLst>
          </a:prstGeom>
          <a:solidFill>
            <a:srgbClr val="273353"/>
          </a:solidFill>
          <a:ln w="12700">
            <a:solidFill>
              <a:srgbClr val="273353"/>
            </a:solidFill>
            <a:prstDash val="solid"/>
          </a:ln>
        </p:spPr>
      </p:sp>
      <p:sp>
        <p:nvSpPr>
          <p:cNvPr id="19" name="Text 17"/>
          <p:cNvSpPr txBox="1"/>
          <p:nvPr/>
        </p:nvSpPr>
        <p:spPr>
          <a:xfrm>
            <a:off x="3282696" y="2578608"/>
            <a:ext cx="1024128" cy="43891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tarea</a:t>
            </a:r>
            <a:endParaRPr lang="en-US" sz="1100" dirty="0"/>
          </a:p>
        </p:txBody>
      </p:sp>
      <p:sp>
        <p:nvSpPr>
          <p:cNvPr id="20" name="Shape 18"/>
          <p:cNvSpPr/>
          <p:nvPr/>
        </p:nvSpPr>
        <p:spPr>
          <a:xfrm>
            <a:off x="4489704" y="2578608"/>
            <a:ext cx="1024128" cy="438912"/>
          </a:xfrm>
          <a:prstGeom prst="roundRect">
            <a:avLst>
              <a:gd name="adj" fmla="val 10417"/>
            </a:avLst>
          </a:prstGeom>
          <a:solidFill>
            <a:srgbClr val="273353"/>
          </a:solidFill>
          <a:ln w="12700">
            <a:solidFill>
              <a:srgbClr val="273353"/>
            </a:solidFill>
            <a:prstDash val="solid"/>
          </a:ln>
        </p:spPr>
      </p:sp>
      <p:sp>
        <p:nvSpPr>
          <p:cNvPr id="21" name="Text 19"/>
          <p:cNvSpPr txBox="1"/>
          <p:nvPr/>
        </p:nvSpPr>
        <p:spPr>
          <a:xfrm>
            <a:off x="4489704" y="2578608"/>
            <a:ext cx="1024128" cy="43891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tarea</a:t>
            </a:r>
            <a:endParaRPr lang="en-US" sz="1100" dirty="0"/>
          </a:p>
        </p:txBody>
      </p:sp>
      <p:sp>
        <p:nvSpPr>
          <p:cNvPr id="22" name="Shape 20"/>
          <p:cNvSpPr/>
          <p:nvPr/>
        </p:nvSpPr>
        <p:spPr>
          <a:xfrm>
            <a:off x="1417320" y="3337560"/>
            <a:ext cx="3611880" cy="566928"/>
          </a:xfrm>
          <a:prstGeom prst="roundRect">
            <a:avLst>
              <a:gd name="adj" fmla="val 16129"/>
            </a:avLst>
          </a:prstGeom>
          <a:solidFill>
            <a:srgbClr val="5B8DEF"/>
          </a:solidFill>
          <a:ln w="12700">
            <a:solidFill>
              <a:srgbClr val="5B8DEF"/>
            </a:solidFill>
            <a:prstDash val="solid"/>
          </a:ln>
        </p:spPr>
      </p:sp>
      <p:sp>
        <p:nvSpPr>
          <p:cNvPr id="23" name="Text 21"/>
          <p:cNvSpPr txBox="1"/>
          <p:nvPr/>
        </p:nvSpPr>
        <p:spPr>
          <a:xfrm>
            <a:off x="1417320" y="3337560"/>
            <a:ext cx="3611880" cy="566928"/>
          </a:xfrm>
          <a:prstGeom prst="rect">
            <a:avLst/>
          </a:prstGeom>
          <a:noFill/>
          <a:ln/>
        </p:spPr>
        <p:txBody>
          <a:bodyPr wrap="square" lIns="0" tIns="0" rIns="0" bIns="0" rtlCol="0" anchor="ctr"/>
          <a:lstStyle/>
          <a:p>
            <a:pPr algn="ctr" indent="0" marL="0">
              <a:buNone/>
            </a:pPr>
            <a:r>
              <a:rPr lang="en-US" sz="1500" b="1" dirty="0">
                <a:solidFill>
                  <a:srgbClr val="0E1628"/>
                </a:solidFill>
                <a:latin typeface="Arial" pitchFamily="34" charset="0"/>
                <a:ea typeface="Arial" pitchFamily="34" charset="-122"/>
                <a:cs typeface="Arial" pitchFamily="34" charset="-120"/>
              </a:rPr>
              <a:t>PLANIFICADOR</a:t>
            </a:r>
            <a:endParaRPr lang="en-US" sz="1500" dirty="0"/>
          </a:p>
        </p:txBody>
      </p:sp>
      <p:sp>
        <p:nvSpPr>
          <p:cNvPr id="24" name="Text 22"/>
          <p:cNvSpPr txBox="1"/>
          <p:nvPr/>
        </p:nvSpPr>
        <p:spPr>
          <a:xfrm>
            <a:off x="2743200" y="3977640"/>
            <a:ext cx="914400" cy="274320"/>
          </a:xfrm>
          <a:prstGeom prst="rect">
            <a:avLst/>
          </a:prstGeom>
          <a:noFill/>
          <a:ln/>
        </p:spPr>
        <p:txBody>
          <a:bodyPr wrap="square" lIns="0" tIns="0" rIns="0" bIns="0" rtlCol="0" anchor="ctr"/>
          <a:lstStyle/>
          <a:p>
            <a:pPr algn="ctr" indent="0" marL="0">
              <a:buNone/>
            </a:pPr>
            <a:r>
              <a:rPr lang="en-US" sz="1400" dirty="0">
                <a:solidFill>
                  <a:srgbClr val="5B8DEF"/>
                </a:solidFill>
                <a:latin typeface="Arial" pitchFamily="34" charset="0"/>
                <a:ea typeface="Arial" pitchFamily="34" charset="-122"/>
                <a:cs typeface="Arial" pitchFamily="34" charset="-120"/>
              </a:rPr>
              <a:t>▼</a:t>
            </a:r>
            <a:endParaRPr lang="en-US" sz="1400" dirty="0"/>
          </a:p>
        </p:txBody>
      </p:sp>
      <p:sp>
        <p:nvSpPr>
          <p:cNvPr id="25" name="Shape 23"/>
          <p:cNvSpPr/>
          <p:nvPr/>
        </p:nvSpPr>
        <p:spPr>
          <a:xfrm>
            <a:off x="1417320" y="4343400"/>
            <a:ext cx="1051560" cy="566928"/>
          </a:xfrm>
          <a:prstGeom prst="roundRect">
            <a:avLst>
              <a:gd name="adj" fmla="val 8065"/>
            </a:avLst>
          </a:prstGeom>
          <a:solidFill>
            <a:srgbClr val="12203A"/>
          </a:solidFill>
          <a:ln w="12700">
            <a:solidFill>
              <a:srgbClr val="10A37F"/>
            </a:solidFill>
            <a:prstDash val="solid"/>
          </a:ln>
        </p:spPr>
      </p:sp>
      <p:sp>
        <p:nvSpPr>
          <p:cNvPr id="26" name="Text 24"/>
          <p:cNvSpPr txBox="1"/>
          <p:nvPr/>
        </p:nvSpPr>
        <p:spPr>
          <a:xfrm>
            <a:off x="1417320" y="4343400"/>
            <a:ext cx="105156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núcleo</a:t>
            </a:r>
            <a:endParaRPr lang="en-US" sz="1100" dirty="0"/>
          </a:p>
        </p:txBody>
      </p:sp>
      <p:sp>
        <p:nvSpPr>
          <p:cNvPr id="27" name="Shape 25"/>
          <p:cNvSpPr/>
          <p:nvPr/>
        </p:nvSpPr>
        <p:spPr>
          <a:xfrm>
            <a:off x="2697480" y="4343400"/>
            <a:ext cx="1051560" cy="566928"/>
          </a:xfrm>
          <a:prstGeom prst="roundRect">
            <a:avLst>
              <a:gd name="adj" fmla="val 8065"/>
            </a:avLst>
          </a:prstGeom>
          <a:solidFill>
            <a:srgbClr val="12203A"/>
          </a:solidFill>
          <a:ln w="12700">
            <a:solidFill>
              <a:srgbClr val="10A37F"/>
            </a:solidFill>
            <a:prstDash val="solid"/>
          </a:ln>
        </p:spPr>
      </p:sp>
      <p:sp>
        <p:nvSpPr>
          <p:cNvPr id="28" name="Text 26"/>
          <p:cNvSpPr txBox="1"/>
          <p:nvPr/>
        </p:nvSpPr>
        <p:spPr>
          <a:xfrm>
            <a:off x="2697480" y="4343400"/>
            <a:ext cx="105156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núcleo</a:t>
            </a:r>
            <a:endParaRPr lang="en-US" sz="1100" dirty="0"/>
          </a:p>
        </p:txBody>
      </p:sp>
      <p:sp>
        <p:nvSpPr>
          <p:cNvPr id="29" name="Shape 27"/>
          <p:cNvSpPr/>
          <p:nvPr/>
        </p:nvSpPr>
        <p:spPr>
          <a:xfrm>
            <a:off x="3977640" y="4343400"/>
            <a:ext cx="1051560" cy="566928"/>
          </a:xfrm>
          <a:prstGeom prst="roundRect">
            <a:avLst>
              <a:gd name="adj" fmla="val 8065"/>
            </a:avLst>
          </a:prstGeom>
          <a:solidFill>
            <a:srgbClr val="12203A"/>
          </a:solidFill>
          <a:ln w="12700">
            <a:solidFill>
              <a:srgbClr val="10A37F"/>
            </a:solidFill>
            <a:prstDash val="solid"/>
          </a:ln>
        </p:spPr>
      </p:sp>
      <p:sp>
        <p:nvSpPr>
          <p:cNvPr id="30" name="Text 28"/>
          <p:cNvSpPr txBox="1"/>
          <p:nvPr/>
        </p:nvSpPr>
        <p:spPr>
          <a:xfrm>
            <a:off x="3977640" y="4343400"/>
            <a:ext cx="105156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núcleo</a:t>
            </a:r>
            <a:endParaRPr lang="en-US" sz="1100" dirty="0"/>
          </a:p>
        </p:txBody>
      </p:sp>
      <p:sp>
        <p:nvSpPr>
          <p:cNvPr id="31" name="Text 29"/>
          <p:cNvSpPr txBox="1"/>
          <p:nvPr/>
        </p:nvSpPr>
        <p:spPr>
          <a:xfrm>
            <a:off x="457200" y="5120640"/>
            <a:ext cx="5532120" cy="310896"/>
          </a:xfrm>
          <a:prstGeom prst="rect">
            <a:avLst/>
          </a:prstGeom>
          <a:noFill/>
          <a:ln/>
        </p:spPr>
        <p:txBody>
          <a:bodyPr wrap="square" lIns="0" tIns="0" rIns="0" bIns="0" rtlCol="0" anchor="ctr"/>
          <a:lstStyle/>
          <a:p>
            <a:pPr algn="ctr" indent="0" marL="0">
              <a:buNone/>
            </a:pPr>
            <a:r>
              <a:rPr lang="en-US" sz="1300" b="1" dirty="0">
                <a:solidFill>
                  <a:srgbClr val="A9B4CC"/>
                </a:solidFill>
                <a:latin typeface="Arial" pitchFamily="34" charset="0"/>
                <a:ea typeface="Arial" pitchFamily="34" charset="-122"/>
                <a:cs typeface="Arial" pitchFamily="34" charset="-120"/>
              </a:rPr>
              <a:t>turnos y prioridades</a:t>
            </a:r>
            <a:endParaRPr lang="en-US" sz="1300" dirty="0"/>
          </a:p>
        </p:txBody>
      </p:sp>
      <p:sp>
        <p:nvSpPr>
          <p:cNvPr id="32" name="Text 30"/>
          <p:cNvSpPr txBox="1"/>
          <p:nvPr/>
        </p:nvSpPr>
        <p:spPr>
          <a:xfrm>
            <a:off x="457200" y="5486400"/>
            <a:ext cx="5532120" cy="310896"/>
          </a:xfrm>
          <a:prstGeom prst="rect">
            <a:avLst/>
          </a:prstGeom>
          <a:noFill/>
          <a:ln/>
        </p:spPr>
        <p:txBody>
          <a:bodyPr wrap="square" lIns="0" tIns="0" rIns="0" bIns="0" rtlCol="0" anchor="ctr"/>
          <a:lstStyle/>
          <a:p>
            <a:pPr algn="ctr" indent="0" marL="0">
              <a:buNone/>
            </a:pPr>
            <a:r>
              <a:rPr lang="en-US" sz="1200" b="1" dirty="0">
                <a:solidFill>
                  <a:srgbClr val="10A37F"/>
                </a:solidFill>
                <a:latin typeface="Arial" pitchFamily="34" charset="0"/>
                <a:ea typeface="Arial" pitchFamily="34" charset="-122"/>
                <a:cs typeface="Arial" pitchFamily="34" charset="-120"/>
              </a:rPr>
              <a:t>+ un 2.º planificador para los lotes de GPU</a:t>
            </a:r>
            <a:endParaRPr lang="en-US" sz="1200" dirty="0"/>
          </a:p>
        </p:txBody>
      </p:sp>
      <p:sp>
        <p:nvSpPr>
          <p:cNvPr id="33" name="Shape 31"/>
          <p:cNvSpPr/>
          <p:nvPr/>
        </p:nvSpPr>
        <p:spPr>
          <a:xfrm>
            <a:off x="6217920" y="1280160"/>
            <a:ext cx="5513832" cy="4846320"/>
          </a:xfrm>
          <a:prstGeom prst="roundRect">
            <a:avLst>
              <a:gd name="adj" fmla="val 1509"/>
            </a:avLst>
          </a:prstGeom>
          <a:solidFill>
            <a:srgbClr val="1B2540"/>
          </a:solidFill>
          <a:ln w="12700">
            <a:solidFill>
              <a:srgbClr val="273353"/>
            </a:solidFill>
            <a:prstDash val="solid"/>
          </a:ln>
        </p:spPr>
      </p:sp>
      <p:sp>
        <p:nvSpPr>
          <p:cNvPr id="34" name="Text 32"/>
          <p:cNvSpPr txBox="1"/>
          <p:nvPr/>
        </p:nvSpPr>
        <p:spPr>
          <a:xfrm>
            <a:off x="6217920" y="1508760"/>
            <a:ext cx="5513832" cy="310896"/>
          </a:xfrm>
          <a:prstGeom prst="rect">
            <a:avLst/>
          </a:prstGeom>
          <a:noFill/>
          <a:ln/>
        </p:spPr>
        <p:txBody>
          <a:bodyPr wrap="square" lIns="0" tIns="0" rIns="0" bIns="0" rtlCol="0" anchor="ctr"/>
          <a:lstStyle/>
          <a:p>
            <a:pPr algn="ctr" indent="0" marL="0">
              <a:buNone/>
            </a:pPr>
            <a:r>
              <a:rPr lang="en-US" sz="1300" b="1" dirty="0">
                <a:solidFill>
                  <a:srgbClr val="10A37F"/>
                </a:solidFill>
                <a:latin typeface="Arial" pitchFamily="34" charset="0"/>
                <a:ea typeface="Arial" pitchFamily="34" charset="-122"/>
                <a:cs typeface="Arial" pitchFamily="34" charset="-120"/>
              </a:rPr>
              <a:t>CAMBIO DE CONTEXTO</a:t>
            </a:r>
            <a:endParaRPr lang="en-US" sz="1300" dirty="0"/>
          </a:p>
        </p:txBody>
      </p:sp>
      <p:sp>
        <p:nvSpPr>
          <p:cNvPr id="35" name="Shape 33"/>
          <p:cNvSpPr/>
          <p:nvPr/>
        </p:nvSpPr>
        <p:spPr>
          <a:xfrm>
            <a:off x="6675120" y="2057400"/>
            <a:ext cx="2011680" cy="822960"/>
          </a:xfrm>
          <a:prstGeom prst="roundRect">
            <a:avLst>
              <a:gd name="adj" fmla="val 6667"/>
            </a:avLst>
          </a:prstGeom>
          <a:solidFill>
            <a:srgbClr val="273353"/>
          </a:solidFill>
          <a:ln w="12700">
            <a:solidFill>
              <a:srgbClr val="5B8DEF"/>
            </a:solidFill>
            <a:prstDash val="solid"/>
          </a:ln>
        </p:spPr>
      </p:sp>
      <p:sp>
        <p:nvSpPr>
          <p:cNvPr id="36" name="Text 34"/>
          <p:cNvSpPr txBox="1"/>
          <p:nvPr/>
        </p:nvSpPr>
        <p:spPr>
          <a:xfrm>
            <a:off x="6675120" y="2057400"/>
            <a:ext cx="2011680"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Tarea A</a:t>
            </a:r>
            <a:endParaRPr lang="en-US" sz="1400" dirty="0"/>
          </a:p>
        </p:txBody>
      </p:sp>
      <p:sp>
        <p:nvSpPr>
          <p:cNvPr id="37" name="Text 35"/>
          <p:cNvSpPr txBox="1"/>
          <p:nvPr/>
        </p:nvSpPr>
        <p:spPr>
          <a:xfrm>
            <a:off x="8686800" y="2057400"/>
            <a:ext cx="731520" cy="822960"/>
          </a:xfrm>
          <a:prstGeom prst="rect">
            <a:avLst/>
          </a:prstGeom>
          <a:noFill/>
          <a:ln/>
        </p:spPr>
        <p:txBody>
          <a:bodyPr wrap="square" lIns="0" tIns="0" rIns="0" bIns="0" rtlCol="0" anchor="ctr"/>
          <a:lstStyle/>
          <a:p>
            <a:pPr algn="ctr" indent="0" marL="0">
              <a:buNone/>
            </a:pPr>
            <a:r>
              <a:rPr lang="en-US" sz="2400" b="1" dirty="0">
                <a:solidFill>
                  <a:srgbClr val="E8B04B"/>
                </a:solidFill>
                <a:latin typeface="Arial" pitchFamily="34" charset="0"/>
                <a:ea typeface="Arial" pitchFamily="34" charset="-122"/>
                <a:cs typeface="Arial" pitchFamily="34" charset="-120"/>
              </a:rPr>
              <a:t>⇄</a:t>
            </a:r>
            <a:endParaRPr lang="en-US" sz="2400" dirty="0"/>
          </a:p>
        </p:txBody>
      </p:sp>
      <p:sp>
        <p:nvSpPr>
          <p:cNvPr id="38" name="Shape 36"/>
          <p:cNvSpPr/>
          <p:nvPr/>
        </p:nvSpPr>
        <p:spPr>
          <a:xfrm>
            <a:off x="9418320" y="2057400"/>
            <a:ext cx="2011680" cy="822960"/>
          </a:xfrm>
          <a:prstGeom prst="roundRect">
            <a:avLst>
              <a:gd name="adj" fmla="val 6667"/>
            </a:avLst>
          </a:prstGeom>
          <a:solidFill>
            <a:srgbClr val="273353"/>
          </a:solidFill>
          <a:ln w="12700">
            <a:solidFill>
              <a:srgbClr val="10A37F"/>
            </a:solidFill>
            <a:prstDash val="solid"/>
          </a:ln>
        </p:spPr>
      </p:sp>
      <p:sp>
        <p:nvSpPr>
          <p:cNvPr id="39" name="Text 37"/>
          <p:cNvSpPr txBox="1"/>
          <p:nvPr/>
        </p:nvSpPr>
        <p:spPr>
          <a:xfrm>
            <a:off x="9418320" y="2057400"/>
            <a:ext cx="2011680"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Tarea B</a:t>
            </a:r>
            <a:endParaRPr lang="en-US" sz="1400" dirty="0"/>
          </a:p>
        </p:txBody>
      </p:sp>
      <p:sp>
        <p:nvSpPr>
          <p:cNvPr id="40" name="Shape 38"/>
          <p:cNvSpPr/>
          <p:nvPr/>
        </p:nvSpPr>
        <p:spPr>
          <a:xfrm>
            <a:off x="6675120" y="3154680"/>
            <a:ext cx="4754880" cy="658368"/>
          </a:xfrm>
          <a:prstGeom prst="roundRect">
            <a:avLst>
              <a:gd name="adj" fmla="val 8333"/>
            </a:avLst>
          </a:prstGeom>
          <a:solidFill>
            <a:srgbClr val="273353"/>
          </a:solidFill>
          <a:ln w="12700">
            <a:solidFill>
              <a:srgbClr val="273353"/>
            </a:solidFill>
            <a:prstDash val="solid"/>
          </a:ln>
        </p:spPr>
      </p:sp>
      <p:sp>
        <p:nvSpPr>
          <p:cNvPr id="41" name="Text 39"/>
          <p:cNvSpPr txBox="1"/>
          <p:nvPr/>
        </p:nvSpPr>
        <p:spPr>
          <a:xfrm>
            <a:off x="6858000" y="3154680"/>
            <a:ext cx="2377440" cy="65836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Guardar estado</a:t>
            </a:r>
            <a:endParaRPr lang="en-US" sz="1300" dirty="0"/>
          </a:p>
        </p:txBody>
      </p:sp>
      <p:sp>
        <p:nvSpPr>
          <p:cNvPr id="42" name="Text 40"/>
          <p:cNvSpPr txBox="1"/>
          <p:nvPr/>
        </p:nvSpPr>
        <p:spPr>
          <a:xfrm>
            <a:off x="9235440" y="3154680"/>
            <a:ext cx="2011680" cy="658368"/>
          </a:xfrm>
          <a:prstGeom prst="rect">
            <a:avLst/>
          </a:prstGeom>
          <a:noFill/>
          <a:ln/>
        </p:spPr>
        <p:txBody>
          <a:bodyPr wrap="square" lIns="0" tIns="0" rIns="0" bIns="0" rtlCol="0" anchor="ctr"/>
          <a:lstStyle/>
          <a:p>
            <a:pPr algn="r" indent="0" marL="0">
              <a:buNone/>
            </a:pPr>
            <a:r>
              <a:rPr lang="en-US" sz="1150" dirty="0">
                <a:solidFill>
                  <a:srgbClr val="A9B4CC"/>
                </a:solidFill>
                <a:latin typeface="Calibri" pitchFamily="34" charset="0"/>
                <a:ea typeface="Calibri" pitchFamily="34" charset="-122"/>
                <a:cs typeface="Calibri" pitchFamily="34" charset="-120"/>
              </a:rPr>
              <a:t>registros, PC, pila</a:t>
            </a:r>
            <a:endParaRPr lang="en-US" sz="1150" dirty="0"/>
          </a:p>
        </p:txBody>
      </p:sp>
      <p:sp>
        <p:nvSpPr>
          <p:cNvPr id="43" name="Shape 41"/>
          <p:cNvSpPr/>
          <p:nvPr/>
        </p:nvSpPr>
        <p:spPr>
          <a:xfrm>
            <a:off x="6675120" y="3931920"/>
            <a:ext cx="4754880" cy="658368"/>
          </a:xfrm>
          <a:prstGeom prst="roundRect">
            <a:avLst>
              <a:gd name="adj" fmla="val 8333"/>
            </a:avLst>
          </a:prstGeom>
          <a:solidFill>
            <a:srgbClr val="273353"/>
          </a:solidFill>
          <a:ln w="12700">
            <a:solidFill>
              <a:srgbClr val="273353"/>
            </a:solidFill>
            <a:prstDash val="solid"/>
          </a:ln>
        </p:spPr>
      </p:sp>
      <p:sp>
        <p:nvSpPr>
          <p:cNvPr id="44" name="Text 42"/>
          <p:cNvSpPr txBox="1"/>
          <p:nvPr/>
        </p:nvSpPr>
        <p:spPr>
          <a:xfrm>
            <a:off x="6858000" y="3931920"/>
            <a:ext cx="2377440" cy="65836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Cargar el otro</a:t>
            </a:r>
            <a:endParaRPr lang="en-US" sz="1300" dirty="0"/>
          </a:p>
        </p:txBody>
      </p:sp>
      <p:sp>
        <p:nvSpPr>
          <p:cNvPr id="45" name="Text 43"/>
          <p:cNvSpPr txBox="1"/>
          <p:nvPr/>
        </p:nvSpPr>
        <p:spPr>
          <a:xfrm>
            <a:off x="9235440" y="3931920"/>
            <a:ext cx="2011680" cy="658368"/>
          </a:xfrm>
          <a:prstGeom prst="rect">
            <a:avLst/>
          </a:prstGeom>
          <a:noFill/>
          <a:ln/>
        </p:spPr>
        <p:txBody>
          <a:bodyPr wrap="square" lIns="0" tIns="0" rIns="0" bIns="0" rtlCol="0" anchor="ctr"/>
          <a:lstStyle/>
          <a:p>
            <a:pPr algn="r" indent="0" marL="0">
              <a:buNone/>
            </a:pPr>
            <a:r>
              <a:rPr lang="en-US" sz="1150" dirty="0">
                <a:solidFill>
                  <a:srgbClr val="A9B4CC"/>
                </a:solidFill>
                <a:latin typeface="Calibri" pitchFamily="34" charset="0"/>
                <a:ea typeface="Calibri" pitchFamily="34" charset="-122"/>
                <a:cs typeface="Calibri" pitchFamily="34" charset="-120"/>
              </a:rPr>
              <a:t>microsegundos</a:t>
            </a:r>
            <a:endParaRPr lang="en-US" sz="1150" dirty="0"/>
          </a:p>
        </p:txBody>
      </p:sp>
      <p:sp>
        <p:nvSpPr>
          <p:cNvPr id="46" name="Shape 44"/>
          <p:cNvSpPr/>
          <p:nvPr/>
        </p:nvSpPr>
        <p:spPr>
          <a:xfrm>
            <a:off x="6675120" y="4709160"/>
            <a:ext cx="4754880" cy="658368"/>
          </a:xfrm>
          <a:prstGeom prst="roundRect">
            <a:avLst>
              <a:gd name="adj" fmla="val 8333"/>
            </a:avLst>
          </a:prstGeom>
          <a:solidFill>
            <a:srgbClr val="273353"/>
          </a:solidFill>
          <a:ln w="12700">
            <a:solidFill>
              <a:srgbClr val="273353"/>
            </a:solidFill>
            <a:prstDash val="solid"/>
          </a:ln>
        </p:spPr>
      </p:sp>
      <p:sp>
        <p:nvSpPr>
          <p:cNvPr id="47" name="Text 45"/>
          <p:cNvSpPr txBox="1"/>
          <p:nvPr/>
        </p:nvSpPr>
        <p:spPr>
          <a:xfrm>
            <a:off x="6858000" y="4709160"/>
            <a:ext cx="2377440" cy="65836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Caché fría</a:t>
            </a:r>
            <a:endParaRPr lang="en-US" sz="1300" dirty="0"/>
          </a:p>
        </p:txBody>
      </p:sp>
      <p:sp>
        <p:nvSpPr>
          <p:cNvPr id="48" name="Text 46"/>
          <p:cNvSpPr txBox="1"/>
          <p:nvPr/>
        </p:nvSpPr>
        <p:spPr>
          <a:xfrm>
            <a:off x="9235440" y="4709160"/>
            <a:ext cx="2011680" cy="658368"/>
          </a:xfrm>
          <a:prstGeom prst="rect">
            <a:avLst/>
          </a:prstGeom>
          <a:noFill/>
          <a:ln/>
        </p:spPr>
        <p:txBody>
          <a:bodyPr wrap="square" lIns="0" tIns="0" rIns="0" bIns="0" rtlCol="0" anchor="ctr"/>
          <a:lstStyle/>
          <a:p>
            <a:pPr algn="r" indent="0" marL="0">
              <a:buNone/>
            </a:pPr>
            <a:r>
              <a:rPr lang="en-US" sz="1150" dirty="0">
                <a:solidFill>
                  <a:srgbClr val="E8B04B"/>
                </a:solidFill>
                <a:latin typeface="Calibri" pitchFamily="34" charset="0"/>
                <a:ea typeface="Calibri" pitchFamily="34" charset="-122"/>
                <a:cs typeface="Calibri" pitchFamily="34" charset="-120"/>
              </a:rPr>
              <a:t>el coste oculto</a:t>
            </a:r>
            <a:endParaRPr lang="en-US" sz="1150" dirty="0"/>
          </a:p>
        </p:txBody>
      </p:sp>
      <p:sp>
        <p:nvSpPr>
          <p:cNvPr id="49" name="Text 47"/>
          <p:cNvSpPr txBox="1"/>
          <p:nvPr/>
        </p:nvSpPr>
        <p:spPr>
          <a:xfrm>
            <a:off x="6217920" y="5532120"/>
            <a:ext cx="5513832" cy="310896"/>
          </a:xfrm>
          <a:prstGeom prst="rect">
            <a:avLst/>
          </a:prstGeom>
          <a:noFill/>
          <a:ln/>
        </p:spPr>
        <p:txBody>
          <a:bodyPr wrap="square" lIns="0" tIns="0" rIns="0" bIns="0" rtlCol="0" anchor="ctr"/>
          <a:lstStyle/>
          <a:p>
            <a:pPr algn="ctr" indent="0" marL="0">
              <a:buNone/>
            </a:pPr>
            <a:r>
              <a:rPr lang="en-US" sz="1300" b="1" dirty="0">
                <a:solidFill>
                  <a:srgbClr val="10A37F"/>
                </a:solidFill>
                <a:latin typeface="Arial" pitchFamily="34" charset="0"/>
                <a:ea typeface="Arial" pitchFamily="34" charset="-122"/>
                <a:cs typeface="Arial" pitchFamily="34" charset="-120"/>
              </a:rPr>
              <a:t>en GPU es mucho más caro → se evita</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628"/>
        </a:solidFill>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oundRect">
            <a:avLst>
              <a:gd name="adj" fmla="val 37500"/>
            </a:avLst>
          </a:prstGeom>
          <a:solidFill>
            <a:srgbClr val="10A37F"/>
          </a:solidFill>
          <a:ln w="12700">
            <a:solidFill>
              <a:srgbClr val="10A37F"/>
            </a:solidFill>
            <a:prstDash val="solid"/>
          </a:ln>
        </p:spPr>
      </p:sp>
      <p:sp>
        <p:nvSpPr>
          <p:cNvPr id="3" name="Text 1"/>
          <p:cNvSpPr txBox="1"/>
          <p:nvPr/>
        </p:nvSpPr>
        <p:spPr>
          <a:xfrm>
            <a:off x="731520" y="310896"/>
            <a:ext cx="10881360" cy="621792"/>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Lo que dijo la IA... y lo que no cuadra</a:t>
            </a:r>
            <a:endParaRPr lang="en-US" sz="3200" dirty="0"/>
          </a:p>
        </p:txBody>
      </p:sp>
      <p:sp>
        <p:nvSpPr>
          <p:cNvPr id="4" name="Shape 2"/>
          <p:cNvSpPr/>
          <p:nvPr/>
        </p:nvSpPr>
        <p:spPr>
          <a:xfrm>
            <a:off x="457200" y="1280160"/>
            <a:ext cx="3602736" cy="3383280"/>
          </a:xfrm>
          <a:prstGeom prst="roundRect">
            <a:avLst>
              <a:gd name="adj" fmla="val 2162"/>
            </a:avLst>
          </a:prstGeom>
          <a:solidFill>
            <a:srgbClr val="1B2540"/>
          </a:solidFill>
          <a:ln w="12700">
            <a:solidFill>
              <a:srgbClr val="273353"/>
            </a:solidFill>
            <a:prstDash val="solid"/>
          </a:ln>
        </p:spPr>
      </p:sp>
      <p:sp>
        <p:nvSpPr>
          <p:cNvPr id="5" name="Text 3"/>
          <p:cNvSpPr txBox="1"/>
          <p:nvPr/>
        </p:nvSpPr>
        <p:spPr>
          <a:xfrm>
            <a:off x="640080" y="1554480"/>
            <a:ext cx="3236976" cy="7772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“¿Un hilo por usuario?”</a:t>
            </a:r>
            <a:endParaRPr lang="en-US" sz="1600" dirty="0"/>
          </a:p>
        </p:txBody>
      </p:sp>
      <p:sp>
        <p:nvSpPr>
          <p:cNvPr id="6" name="Shape 4"/>
          <p:cNvSpPr/>
          <p:nvPr/>
        </p:nvSpPr>
        <p:spPr>
          <a:xfrm>
            <a:off x="1892808" y="2468880"/>
            <a:ext cx="731520" cy="731520"/>
          </a:xfrm>
          <a:prstGeom prst="ellipse">
            <a:avLst/>
          </a:prstGeom>
          <a:solidFill>
            <a:srgbClr val="E8685A"/>
          </a:solidFill>
          <a:ln w="12700">
            <a:solidFill>
              <a:srgbClr val="E8685A"/>
            </a:solidFill>
            <a:prstDash val="solid"/>
          </a:ln>
        </p:spPr>
      </p:sp>
      <p:sp>
        <p:nvSpPr>
          <p:cNvPr id="7" name="Text 5"/>
          <p:cNvSpPr txBox="1"/>
          <p:nvPr/>
        </p:nvSpPr>
        <p:spPr>
          <a:xfrm>
            <a:off x="1892808" y="246888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8" name="Text 6"/>
          <p:cNvSpPr txBox="1"/>
          <p:nvPr/>
        </p:nvSpPr>
        <p:spPr>
          <a:xfrm>
            <a:off x="640080" y="3383280"/>
            <a:ext cx="3236976" cy="1005840"/>
          </a:xfrm>
          <a:prstGeom prst="rect">
            <a:avLst/>
          </a:prstGeom>
          <a:noFill/>
          <a:ln/>
        </p:spPr>
        <p:txBody>
          <a:bodyPr wrap="square" lIns="0" tIns="0" rIns="0" bIns="0" rtlCol="0" anchor="ctr"/>
          <a:lstStyle/>
          <a:p>
            <a:pPr algn="ctr" indent="0" marL="0">
              <a:lnSpc>
                <a:spcPts val="1700"/>
              </a:lnSpc>
              <a:buNone/>
            </a:pPr>
            <a:r>
              <a:rPr lang="en-US" sz="1300" dirty="0">
                <a:solidFill>
                  <a:srgbClr val="10A37F"/>
                </a:solidFill>
                <a:latin typeface="Calibri" pitchFamily="34" charset="0"/>
                <a:ea typeface="Calibri" pitchFamily="34" charset="-122"/>
                <a:cs typeface="Calibri" pitchFamily="34" charset="-120"/>
              </a:rPr>
              <a:t>No escala:</a:t>
            </a:r>
            <a:endParaRPr lang="en-US" sz="1300" dirty="0"/>
          </a:p>
          <a:p>
            <a:pPr algn="ctr" indent="0" marL="0">
              <a:lnSpc>
                <a:spcPts val="1700"/>
              </a:lnSpc>
              <a:buNone/>
            </a:pPr>
            <a:r>
              <a:rPr lang="en-US" sz="1300" dirty="0">
                <a:solidFill>
                  <a:srgbClr val="10A37F"/>
                </a:solidFill>
                <a:latin typeface="Calibri" pitchFamily="34" charset="0"/>
                <a:ea typeface="Calibri" pitchFamily="34" charset="-122"/>
                <a:cs typeface="Calibri" pitchFamily="34" charset="-120"/>
              </a:rPr>
              <a:t>E/S asíncrona y batching</a:t>
            </a:r>
            <a:endParaRPr lang="en-US" sz="1300" dirty="0"/>
          </a:p>
        </p:txBody>
      </p:sp>
      <p:sp>
        <p:nvSpPr>
          <p:cNvPr id="9" name="Shape 7"/>
          <p:cNvSpPr/>
          <p:nvPr/>
        </p:nvSpPr>
        <p:spPr>
          <a:xfrm>
            <a:off x="4261104" y="1280160"/>
            <a:ext cx="3602736" cy="3383280"/>
          </a:xfrm>
          <a:prstGeom prst="roundRect">
            <a:avLst>
              <a:gd name="adj" fmla="val 2162"/>
            </a:avLst>
          </a:prstGeom>
          <a:solidFill>
            <a:srgbClr val="1B2540"/>
          </a:solidFill>
          <a:ln w="12700">
            <a:solidFill>
              <a:srgbClr val="273353"/>
            </a:solidFill>
            <a:prstDash val="solid"/>
          </a:ln>
        </p:spPr>
      </p:sp>
      <p:sp>
        <p:nvSpPr>
          <p:cNvPr id="10" name="Text 8"/>
          <p:cNvSpPr txBox="1"/>
          <p:nvPr/>
        </p:nvSpPr>
        <p:spPr>
          <a:xfrm>
            <a:off x="4443984" y="1554480"/>
            <a:ext cx="3236976" cy="7772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“¿Usas TPU?”</a:t>
            </a:r>
            <a:endParaRPr lang="en-US" sz="1600" dirty="0"/>
          </a:p>
        </p:txBody>
      </p:sp>
      <p:sp>
        <p:nvSpPr>
          <p:cNvPr id="11" name="Shape 9"/>
          <p:cNvSpPr/>
          <p:nvPr/>
        </p:nvSpPr>
        <p:spPr>
          <a:xfrm>
            <a:off x="5696712" y="2468880"/>
            <a:ext cx="731520" cy="731520"/>
          </a:xfrm>
          <a:prstGeom prst="ellipse">
            <a:avLst/>
          </a:prstGeom>
          <a:solidFill>
            <a:srgbClr val="E8685A"/>
          </a:solidFill>
          <a:ln w="12700">
            <a:solidFill>
              <a:srgbClr val="E8685A"/>
            </a:solidFill>
            <a:prstDash val="solid"/>
          </a:ln>
        </p:spPr>
      </p:sp>
      <p:sp>
        <p:nvSpPr>
          <p:cNvPr id="12" name="Text 10"/>
          <p:cNvSpPr txBox="1"/>
          <p:nvPr/>
        </p:nvSpPr>
        <p:spPr>
          <a:xfrm>
            <a:off x="5696712" y="246888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13" name="Text 11"/>
          <p:cNvSpPr txBox="1"/>
          <p:nvPr/>
        </p:nvSpPr>
        <p:spPr>
          <a:xfrm>
            <a:off x="4443984" y="3383280"/>
            <a:ext cx="3236976" cy="1005840"/>
          </a:xfrm>
          <a:prstGeom prst="rect">
            <a:avLst/>
          </a:prstGeom>
          <a:noFill/>
          <a:ln/>
        </p:spPr>
        <p:txBody>
          <a:bodyPr wrap="square" lIns="0" tIns="0" rIns="0" bIns="0" rtlCol="0" anchor="ctr"/>
          <a:lstStyle/>
          <a:p>
            <a:pPr algn="ctr" indent="0" marL="0">
              <a:lnSpc>
                <a:spcPts val="1700"/>
              </a:lnSpc>
              <a:buNone/>
            </a:pPr>
            <a:r>
              <a:rPr lang="en-US" sz="1300" dirty="0">
                <a:solidFill>
                  <a:srgbClr val="10A37F"/>
                </a:solidFill>
                <a:latin typeface="Calibri" pitchFamily="34" charset="0"/>
                <a:ea typeface="Calibri" pitchFamily="34" charset="-122"/>
                <a:cs typeface="Calibri" pitchFamily="34" charset="-120"/>
              </a:rPr>
              <a:t>Las TPU son de Google:</a:t>
            </a:r>
            <a:endParaRPr lang="en-US" sz="1300" dirty="0"/>
          </a:p>
          <a:p>
            <a:pPr algn="ctr" indent="0" marL="0">
              <a:lnSpc>
                <a:spcPts val="1700"/>
              </a:lnSpc>
              <a:buNone/>
            </a:pPr>
            <a:r>
              <a:rPr lang="en-US" sz="1300" dirty="0">
                <a:solidFill>
                  <a:srgbClr val="10A37F"/>
                </a:solidFill>
                <a:latin typeface="Calibri" pitchFamily="34" charset="0"/>
                <a:ea typeface="Calibri" pitchFamily="34" charset="-122"/>
                <a:cs typeface="Calibri" pitchFamily="34" charset="-120"/>
              </a:rPr>
              <a:t>ChatGPT usa GPUs</a:t>
            </a:r>
            <a:endParaRPr lang="en-US" sz="1300" dirty="0"/>
          </a:p>
        </p:txBody>
      </p:sp>
      <p:sp>
        <p:nvSpPr>
          <p:cNvPr id="14" name="Shape 12"/>
          <p:cNvSpPr/>
          <p:nvPr/>
        </p:nvSpPr>
        <p:spPr>
          <a:xfrm>
            <a:off x="8065008" y="1280160"/>
            <a:ext cx="3602736" cy="3383280"/>
          </a:xfrm>
          <a:prstGeom prst="roundRect">
            <a:avLst>
              <a:gd name="adj" fmla="val 2162"/>
            </a:avLst>
          </a:prstGeom>
          <a:solidFill>
            <a:srgbClr val="1B2540"/>
          </a:solidFill>
          <a:ln w="12700">
            <a:solidFill>
              <a:srgbClr val="273353"/>
            </a:solidFill>
            <a:prstDash val="solid"/>
          </a:ln>
        </p:spPr>
      </p:sp>
      <p:sp>
        <p:nvSpPr>
          <p:cNvPr id="15" name="Text 13"/>
          <p:cNvSpPr txBox="1"/>
          <p:nvPr/>
        </p:nvSpPr>
        <p:spPr>
          <a:xfrm>
            <a:off x="8247888" y="1554480"/>
            <a:ext cx="3236976" cy="7772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“¿Cuántas GPUs?”</a:t>
            </a:r>
            <a:endParaRPr lang="en-US" sz="1600" dirty="0"/>
          </a:p>
        </p:txBody>
      </p:sp>
      <p:sp>
        <p:nvSpPr>
          <p:cNvPr id="16" name="Shape 14"/>
          <p:cNvSpPr/>
          <p:nvPr/>
        </p:nvSpPr>
        <p:spPr>
          <a:xfrm>
            <a:off x="9500616" y="2468880"/>
            <a:ext cx="731520" cy="731520"/>
          </a:xfrm>
          <a:prstGeom prst="ellipse">
            <a:avLst/>
          </a:prstGeom>
          <a:solidFill>
            <a:srgbClr val="E8685A"/>
          </a:solidFill>
          <a:ln w="12700">
            <a:solidFill>
              <a:srgbClr val="E8685A"/>
            </a:solidFill>
            <a:prstDash val="solid"/>
          </a:ln>
        </p:spPr>
      </p:sp>
      <p:sp>
        <p:nvSpPr>
          <p:cNvPr id="17" name="Text 15"/>
          <p:cNvSpPr txBox="1"/>
          <p:nvPr/>
        </p:nvSpPr>
        <p:spPr>
          <a:xfrm>
            <a:off x="9500616" y="246888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18" name="Text 16"/>
          <p:cNvSpPr txBox="1"/>
          <p:nvPr/>
        </p:nvSpPr>
        <p:spPr>
          <a:xfrm>
            <a:off x="8247888" y="3383280"/>
            <a:ext cx="3236976" cy="1005840"/>
          </a:xfrm>
          <a:prstGeom prst="rect">
            <a:avLst/>
          </a:prstGeom>
          <a:noFill/>
          <a:ln/>
        </p:spPr>
        <p:txBody>
          <a:bodyPr wrap="square" lIns="0" tIns="0" rIns="0" bIns="0" rtlCol="0" anchor="ctr"/>
          <a:lstStyle/>
          <a:p>
            <a:pPr algn="ctr" indent="0" marL="0">
              <a:lnSpc>
                <a:spcPts val="1700"/>
              </a:lnSpc>
              <a:buNone/>
            </a:pPr>
            <a:r>
              <a:rPr lang="en-US" sz="1300" dirty="0">
                <a:solidFill>
                  <a:srgbClr val="10A37F"/>
                </a:solidFill>
                <a:latin typeface="Calibri" pitchFamily="34" charset="0"/>
                <a:ea typeface="Calibri" pitchFamily="34" charset="-122"/>
                <a:cs typeface="Calibri" pitchFamily="34" charset="-120"/>
              </a:rPr>
              <a:t>Cifras distintas cada vez:</a:t>
            </a:r>
            <a:endParaRPr lang="en-US" sz="1300" dirty="0"/>
          </a:p>
          <a:p>
            <a:pPr algn="ctr" indent="0" marL="0">
              <a:lnSpc>
                <a:spcPts val="1700"/>
              </a:lnSpc>
              <a:buNone/>
            </a:pPr>
            <a:r>
              <a:rPr lang="en-US" sz="1300" dirty="0">
                <a:solidFill>
                  <a:srgbClr val="10A37F"/>
                </a:solidFill>
                <a:latin typeface="Calibri" pitchFamily="34" charset="0"/>
                <a:ea typeface="Calibri" pitchFamily="34" charset="-122"/>
                <a:cs typeface="Calibri" pitchFamily="34" charset="-120"/>
              </a:rPr>
              <a:t>no se autoconsulta</a:t>
            </a:r>
            <a:endParaRPr lang="en-US" sz="1300" dirty="0"/>
          </a:p>
        </p:txBody>
      </p:sp>
      <p:sp>
        <p:nvSpPr>
          <p:cNvPr id="19" name="Shape 17"/>
          <p:cNvSpPr/>
          <p:nvPr/>
        </p:nvSpPr>
        <p:spPr>
          <a:xfrm>
            <a:off x="457200" y="4937760"/>
            <a:ext cx="11274552" cy="1188720"/>
          </a:xfrm>
          <a:prstGeom prst="roundRect">
            <a:avLst>
              <a:gd name="adj" fmla="val 6154"/>
            </a:avLst>
          </a:prstGeom>
          <a:solidFill>
            <a:srgbClr val="17402F"/>
          </a:solidFill>
          <a:ln w="19050">
            <a:solidFill>
              <a:srgbClr val="10A37F"/>
            </a:solidFill>
            <a:prstDash val="solid"/>
          </a:ln>
        </p:spPr>
      </p:sp>
      <p:sp>
        <p:nvSpPr>
          <p:cNvPr id="20" name="Text 18"/>
          <p:cNvSpPr txBox="1"/>
          <p:nvPr/>
        </p:nvSpPr>
        <p:spPr>
          <a:xfrm>
            <a:off x="457200" y="5074920"/>
            <a:ext cx="11274552" cy="411480"/>
          </a:xfrm>
          <a:prstGeom prst="rect">
            <a:avLst/>
          </a:prstGeom>
          <a:noFill/>
          <a:ln/>
        </p:spPr>
        <p:txBody>
          <a:bodyPr wrap="square" lIns="0" tIns="0" rIns="0" bIns="0" rtlCol="0" anchor="ctr"/>
          <a:lstStyle/>
          <a:p>
            <a:pPr algn="ctr" indent="0" marL="0">
              <a:buNone/>
            </a:pPr>
            <a:r>
              <a:rPr lang="en-US" sz="1900" b="1" dirty="0">
                <a:solidFill>
                  <a:srgbClr val="10A37F"/>
                </a:solidFill>
                <a:latin typeface="Arial" pitchFamily="34" charset="0"/>
                <a:ea typeface="Arial" pitchFamily="34" charset="-122"/>
                <a:cs typeface="Arial" pitchFamily="34" charset="-120"/>
              </a:rPr>
              <a:t>Un LLM no se autoconsulta: predice texto plausible</a:t>
            </a:r>
            <a:endParaRPr lang="en-US" sz="1900" dirty="0"/>
          </a:p>
        </p:txBody>
      </p:sp>
      <p:sp>
        <p:nvSpPr>
          <p:cNvPr id="21" name="Text 19"/>
          <p:cNvSpPr txBox="1"/>
          <p:nvPr/>
        </p:nvSpPr>
        <p:spPr>
          <a:xfrm>
            <a:off x="457200" y="5532120"/>
            <a:ext cx="11274552" cy="36576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Por eso hay que contrastar siempre con documentación externa</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628"/>
        </a:solidFill>
      </p:bgPr>
    </p:bg>
    <p:spTree>
      <p:nvGrpSpPr>
        <p:cNvPr id="1" name=""/>
        <p:cNvGrpSpPr/>
        <p:nvPr/>
      </p:nvGrpSpPr>
      <p:grpSpPr>
        <a:xfrm>
          <a:off x="0" y="0"/>
          <a:ext cx="0" cy="0"/>
          <a:chOff x="0" y="0"/>
          <a:chExt cx="0" cy="0"/>
        </a:xfrm>
      </p:grpSpPr>
      <p:sp>
        <p:nvSpPr>
          <p:cNvPr id="2" name="Shape 0"/>
          <p:cNvSpPr/>
          <p:nvPr/>
        </p:nvSpPr>
        <p:spPr>
          <a:xfrm>
            <a:off x="457200" y="384048"/>
            <a:ext cx="146304" cy="475488"/>
          </a:xfrm>
          <a:prstGeom prst="roundRect">
            <a:avLst>
              <a:gd name="adj" fmla="val 37500"/>
            </a:avLst>
          </a:prstGeom>
          <a:solidFill>
            <a:srgbClr val="10A37F"/>
          </a:solidFill>
          <a:ln w="12700">
            <a:solidFill>
              <a:srgbClr val="10A37F"/>
            </a:solidFill>
            <a:prstDash val="solid"/>
          </a:ln>
        </p:spPr>
      </p:sp>
      <p:sp>
        <p:nvSpPr>
          <p:cNvPr id="3" name="Text 1"/>
          <p:cNvSpPr txBox="1"/>
          <p:nvPr/>
        </p:nvSpPr>
        <p:spPr>
          <a:xfrm>
            <a:off x="731520" y="310896"/>
            <a:ext cx="10881360" cy="621792"/>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Fuentes consultadas</a:t>
            </a:r>
            <a:endParaRPr lang="en-US" sz="3200" dirty="0"/>
          </a:p>
        </p:txBody>
      </p:sp>
      <p:sp>
        <p:nvSpPr>
          <p:cNvPr id="4" name="Shape 2"/>
          <p:cNvSpPr/>
          <p:nvPr/>
        </p:nvSpPr>
        <p:spPr>
          <a:xfrm>
            <a:off x="457200" y="1371600"/>
            <a:ext cx="3602736" cy="1828800"/>
          </a:xfrm>
          <a:prstGeom prst="roundRect">
            <a:avLst>
              <a:gd name="adj" fmla="val 4000"/>
            </a:avLst>
          </a:prstGeom>
          <a:solidFill>
            <a:srgbClr val="1B2540"/>
          </a:solidFill>
          <a:ln w="12700">
            <a:solidFill>
              <a:srgbClr val="273353"/>
            </a:solidFill>
            <a:prstDash val="solid"/>
          </a:ln>
        </p:spPr>
      </p:sp>
      <p:sp>
        <p:nvSpPr>
          <p:cNvPr id="5" name="Shape 3"/>
          <p:cNvSpPr/>
          <p:nvPr/>
        </p:nvSpPr>
        <p:spPr>
          <a:xfrm>
            <a:off x="2029968" y="1645920"/>
            <a:ext cx="457200" cy="457200"/>
          </a:xfrm>
          <a:prstGeom prst="ellipse">
            <a:avLst/>
          </a:prstGeom>
          <a:solidFill>
            <a:srgbClr val="10A37F"/>
          </a:solidFill>
          <a:ln w="12700">
            <a:solidFill>
              <a:srgbClr val="10A37F"/>
            </a:solidFill>
            <a:prstDash val="solid"/>
          </a:ln>
        </p:spPr>
      </p:sp>
      <p:sp>
        <p:nvSpPr>
          <p:cNvPr id="6" name="Text 4"/>
          <p:cNvSpPr txBox="1"/>
          <p:nvPr/>
        </p:nvSpPr>
        <p:spPr>
          <a:xfrm>
            <a:off x="640080" y="2240280"/>
            <a:ext cx="3236976"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OpenAI</a:t>
            </a:r>
            <a:endParaRPr lang="en-US" sz="1400" dirty="0"/>
          </a:p>
        </p:txBody>
      </p:sp>
      <p:sp>
        <p:nvSpPr>
          <p:cNvPr id="7" name="Text 5"/>
          <p:cNvSpPr txBox="1"/>
          <p:nvPr/>
        </p:nvSpPr>
        <p:spPr>
          <a:xfrm>
            <a:off x="640080" y="2670048"/>
            <a:ext cx="3236976" cy="365760"/>
          </a:xfrm>
          <a:prstGeom prst="rect">
            <a:avLst/>
          </a:prstGeom>
          <a:noFill/>
          <a:ln/>
        </p:spPr>
        <p:txBody>
          <a:bodyPr wrap="square" lIns="0" tIns="0" rIns="0" bIns="0" rtlCol="0" anchor="ctr"/>
          <a:lstStyle/>
          <a:p>
            <a:pPr algn="ctr" indent="0" marL="0">
              <a:buNone/>
            </a:pPr>
            <a:r>
              <a:rPr lang="en-US" sz="1100" dirty="0">
                <a:solidFill>
                  <a:srgbClr val="A9B4CC"/>
                </a:solidFill>
                <a:latin typeface="Calibri" pitchFamily="34" charset="0"/>
                <a:ea typeface="Calibri" pitchFamily="34" charset="-122"/>
                <a:cs typeface="Calibri" pitchFamily="34" charset="-120"/>
              </a:rPr>
              <a:t>platform.openai.com/docs</a:t>
            </a:r>
            <a:endParaRPr lang="en-US" sz="1100" dirty="0"/>
          </a:p>
        </p:txBody>
      </p:sp>
      <p:sp>
        <p:nvSpPr>
          <p:cNvPr id="8" name="Shape 6"/>
          <p:cNvSpPr/>
          <p:nvPr/>
        </p:nvSpPr>
        <p:spPr>
          <a:xfrm>
            <a:off x="4261104" y="1371600"/>
            <a:ext cx="3602736" cy="1828800"/>
          </a:xfrm>
          <a:prstGeom prst="roundRect">
            <a:avLst>
              <a:gd name="adj" fmla="val 4000"/>
            </a:avLst>
          </a:prstGeom>
          <a:solidFill>
            <a:srgbClr val="1B2540"/>
          </a:solidFill>
          <a:ln w="12700">
            <a:solidFill>
              <a:srgbClr val="273353"/>
            </a:solidFill>
            <a:prstDash val="solid"/>
          </a:ln>
        </p:spPr>
      </p:sp>
      <p:sp>
        <p:nvSpPr>
          <p:cNvPr id="9" name="Shape 7"/>
          <p:cNvSpPr/>
          <p:nvPr/>
        </p:nvSpPr>
        <p:spPr>
          <a:xfrm>
            <a:off x="5833872" y="1645920"/>
            <a:ext cx="457200" cy="457200"/>
          </a:xfrm>
          <a:prstGeom prst="ellipse">
            <a:avLst/>
          </a:prstGeom>
          <a:solidFill>
            <a:srgbClr val="5B8DEF"/>
          </a:solidFill>
          <a:ln w="12700">
            <a:solidFill>
              <a:srgbClr val="5B8DEF"/>
            </a:solidFill>
            <a:prstDash val="solid"/>
          </a:ln>
        </p:spPr>
      </p:sp>
      <p:sp>
        <p:nvSpPr>
          <p:cNvPr id="10" name="Text 8"/>
          <p:cNvSpPr txBox="1"/>
          <p:nvPr/>
        </p:nvSpPr>
        <p:spPr>
          <a:xfrm>
            <a:off x="4443984" y="2240280"/>
            <a:ext cx="3236976"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Microsoft Azure</a:t>
            </a:r>
            <a:endParaRPr lang="en-US" sz="1400" dirty="0"/>
          </a:p>
        </p:txBody>
      </p:sp>
      <p:sp>
        <p:nvSpPr>
          <p:cNvPr id="11" name="Text 9"/>
          <p:cNvSpPr txBox="1"/>
          <p:nvPr/>
        </p:nvSpPr>
        <p:spPr>
          <a:xfrm>
            <a:off x="4443984" y="2670048"/>
            <a:ext cx="3236976" cy="365760"/>
          </a:xfrm>
          <a:prstGeom prst="rect">
            <a:avLst/>
          </a:prstGeom>
          <a:noFill/>
          <a:ln/>
        </p:spPr>
        <p:txBody>
          <a:bodyPr wrap="square" lIns="0" tIns="0" rIns="0" bIns="0" rtlCol="0" anchor="ctr"/>
          <a:lstStyle/>
          <a:p>
            <a:pPr algn="ctr" indent="0" marL="0">
              <a:buNone/>
            </a:pPr>
            <a:r>
              <a:rPr lang="en-US" sz="1100" dirty="0">
                <a:solidFill>
                  <a:srgbClr val="A9B4CC"/>
                </a:solidFill>
                <a:latin typeface="Calibri" pitchFamily="34" charset="0"/>
                <a:ea typeface="Calibri" pitchFamily="34" charset="-122"/>
                <a:cs typeface="Calibri" pitchFamily="34" charset="-120"/>
              </a:rPr>
              <a:t>azure.microsoft.com</a:t>
            </a:r>
            <a:endParaRPr lang="en-US" sz="1100" dirty="0"/>
          </a:p>
        </p:txBody>
      </p:sp>
      <p:sp>
        <p:nvSpPr>
          <p:cNvPr id="12" name="Shape 10"/>
          <p:cNvSpPr/>
          <p:nvPr/>
        </p:nvSpPr>
        <p:spPr>
          <a:xfrm>
            <a:off x="8065008" y="1371600"/>
            <a:ext cx="3602736" cy="1828800"/>
          </a:xfrm>
          <a:prstGeom prst="roundRect">
            <a:avLst>
              <a:gd name="adj" fmla="val 4000"/>
            </a:avLst>
          </a:prstGeom>
          <a:solidFill>
            <a:srgbClr val="1B2540"/>
          </a:solidFill>
          <a:ln w="12700">
            <a:solidFill>
              <a:srgbClr val="273353"/>
            </a:solidFill>
            <a:prstDash val="solid"/>
          </a:ln>
        </p:spPr>
      </p:sp>
      <p:sp>
        <p:nvSpPr>
          <p:cNvPr id="13" name="Shape 11"/>
          <p:cNvSpPr/>
          <p:nvPr/>
        </p:nvSpPr>
        <p:spPr>
          <a:xfrm>
            <a:off x="9637776" y="1645920"/>
            <a:ext cx="457200" cy="457200"/>
          </a:xfrm>
          <a:prstGeom prst="ellipse">
            <a:avLst/>
          </a:prstGeom>
          <a:solidFill>
            <a:srgbClr val="E8B04B"/>
          </a:solidFill>
          <a:ln w="12700">
            <a:solidFill>
              <a:srgbClr val="E8B04B"/>
            </a:solidFill>
            <a:prstDash val="solid"/>
          </a:ln>
        </p:spPr>
      </p:sp>
      <p:sp>
        <p:nvSpPr>
          <p:cNvPr id="14" name="Text 12"/>
          <p:cNvSpPr txBox="1"/>
          <p:nvPr/>
        </p:nvSpPr>
        <p:spPr>
          <a:xfrm>
            <a:off x="8247888" y="2240280"/>
            <a:ext cx="3236976"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NVIDIA — inferencia de LLM</a:t>
            </a:r>
            <a:endParaRPr lang="en-US" sz="1400" dirty="0"/>
          </a:p>
        </p:txBody>
      </p:sp>
      <p:sp>
        <p:nvSpPr>
          <p:cNvPr id="15" name="Text 13"/>
          <p:cNvSpPr txBox="1"/>
          <p:nvPr/>
        </p:nvSpPr>
        <p:spPr>
          <a:xfrm>
            <a:off x="8247888" y="2670048"/>
            <a:ext cx="3236976" cy="365760"/>
          </a:xfrm>
          <a:prstGeom prst="rect">
            <a:avLst/>
          </a:prstGeom>
          <a:noFill/>
          <a:ln/>
        </p:spPr>
        <p:txBody>
          <a:bodyPr wrap="square" lIns="0" tIns="0" rIns="0" bIns="0" rtlCol="0" anchor="ctr"/>
          <a:lstStyle/>
          <a:p>
            <a:pPr algn="ctr" indent="0" marL="0">
              <a:buNone/>
            </a:pPr>
            <a:r>
              <a:rPr lang="en-US" sz="1100" dirty="0">
                <a:solidFill>
                  <a:srgbClr val="A9B4CC"/>
                </a:solidFill>
                <a:latin typeface="Calibri" pitchFamily="34" charset="0"/>
                <a:ea typeface="Calibri" pitchFamily="34" charset="-122"/>
                <a:cs typeface="Calibri" pitchFamily="34" charset="-120"/>
              </a:rPr>
              <a:t>developer.nvidia.com/blog</a:t>
            </a:r>
            <a:endParaRPr lang="en-US" sz="1100" dirty="0"/>
          </a:p>
        </p:txBody>
      </p:sp>
      <p:sp>
        <p:nvSpPr>
          <p:cNvPr id="16" name="Shape 14"/>
          <p:cNvSpPr/>
          <p:nvPr/>
        </p:nvSpPr>
        <p:spPr>
          <a:xfrm>
            <a:off x="457200" y="3520440"/>
            <a:ext cx="3602736" cy="1828800"/>
          </a:xfrm>
          <a:prstGeom prst="roundRect">
            <a:avLst>
              <a:gd name="adj" fmla="val 4000"/>
            </a:avLst>
          </a:prstGeom>
          <a:solidFill>
            <a:srgbClr val="1B2540"/>
          </a:solidFill>
          <a:ln w="12700">
            <a:solidFill>
              <a:srgbClr val="273353"/>
            </a:solidFill>
            <a:prstDash val="solid"/>
          </a:ln>
        </p:spPr>
      </p:sp>
      <p:sp>
        <p:nvSpPr>
          <p:cNvPr id="17" name="Shape 15"/>
          <p:cNvSpPr/>
          <p:nvPr/>
        </p:nvSpPr>
        <p:spPr>
          <a:xfrm>
            <a:off x="2029968" y="3794760"/>
            <a:ext cx="457200" cy="457200"/>
          </a:xfrm>
          <a:prstGeom prst="ellipse">
            <a:avLst/>
          </a:prstGeom>
          <a:solidFill>
            <a:srgbClr val="10A37F"/>
          </a:solidFill>
          <a:ln w="12700">
            <a:solidFill>
              <a:srgbClr val="10A37F"/>
            </a:solidFill>
            <a:prstDash val="solid"/>
          </a:ln>
        </p:spPr>
      </p:sp>
      <p:sp>
        <p:nvSpPr>
          <p:cNvPr id="18" name="Text 16"/>
          <p:cNvSpPr txBox="1"/>
          <p:nvPr/>
        </p:nvSpPr>
        <p:spPr>
          <a:xfrm>
            <a:off x="640080" y="4389120"/>
            <a:ext cx="3236976"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vLLM</a:t>
            </a:r>
            <a:endParaRPr lang="en-US" sz="1400" dirty="0"/>
          </a:p>
        </p:txBody>
      </p:sp>
      <p:sp>
        <p:nvSpPr>
          <p:cNvPr id="19" name="Text 17"/>
          <p:cNvSpPr txBox="1"/>
          <p:nvPr/>
        </p:nvSpPr>
        <p:spPr>
          <a:xfrm>
            <a:off x="640080" y="4818888"/>
            <a:ext cx="3236976" cy="365760"/>
          </a:xfrm>
          <a:prstGeom prst="rect">
            <a:avLst/>
          </a:prstGeom>
          <a:noFill/>
          <a:ln/>
        </p:spPr>
        <p:txBody>
          <a:bodyPr wrap="square" lIns="0" tIns="0" rIns="0" bIns="0" rtlCol="0" anchor="ctr"/>
          <a:lstStyle/>
          <a:p>
            <a:pPr algn="ctr" indent="0" marL="0">
              <a:buNone/>
            </a:pPr>
            <a:r>
              <a:rPr lang="en-US" sz="1100" dirty="0">
                <a:solidFill>
                  <a:srgbClr val="A9B4CC"/>
                </a:solidFill>
                <a:latin typeface="Calibri" pitchFamily="34" charset="0"/>
                <a:ea typeface="Calibri" pitchFamily="34" charset="-122"/>
                <a:cs typeface="Calibri" pitchFamily="34" charset="-120"/>
              </a:rPr>
              <a:t>docs.vllm.ai</a:t>
            </a:r>
            <a:endParaRPr lang="en-US" sz="1100" dirty="0"/>
          </a:p>
        </p:txBody>
      </p:sp>
      <p:sp>
        <p:nvSpPr>
          <p:cNvPr id="20" name="Shape 18"/>
          <p:cNvSpPr/>
          <p:nvPr/>
        </p:nvSpPr>
        <p:spPr>
          <a:xfrm>
            <a:off x="4261104" y="3520440"/>
            <a:ext cx="3602736" cy="1828800"/>
          </a:xfrm>
          <a:prstGeom prst="roundRect">
            <a:avLst>
              <a:gd name="adj" fmla="val 4000"/>
            </a:avLst>
          </a:prstGeom>
          <a:solidFill>
            <a:srgbClr val="1B2540"/>
          </a:solidFill>
          <a:ln w="12700">
            <a:solidFill>
              <a:srgbClr val="273353"/>
            </a:solidFill>
            <a:prstDash val="solid"/>
          </a:ln>
        </p:spPr>
      </p:sp>
      <p:sp>
        <p:nvSpPr>
          <p:cNvPr id="21" name="Shape 19"/>
          <p:cNvSpPr/>
          <p:nvPr/>
        </p:nvSpPr>
        <p:spPr>
          <a:xfrm>
            <a:off x="5833872" y="3794760"/>
            <a:ext cx="457200" cy="457200"/>
          </a:xfrm>
          <a:prstGeom prst="ellipse">
            <a:avLst/>
          </a:prstGeom>
          <a:solidFill>
            <a:srgbClr val="5B8DEF"/>
          </a:solidFill>
          <a:ln w="12700">
            <a:solidFill>
              <a:srgbClr val="5B8DEF"/>
            </a:solidFill>
            <a:prstDash val="solid"/>
          </a:ln>
        </p:spPr>
      </p:sp>
      <p:sp>
        <p:nvSpPr>
          <p:cNvPr id="22" name="Text 20"/>
          <p:cNvSpPr txBox="1"/>
          <p:nvPr/>
        </p:nvSpPr>
        <p:spPr>
          <a:xfrm>
            <a:off x="4443984" y="4389120"/>
            <a:ext cx="3236976"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“Attention Is All You Need”</a:t>
            </a:r>
            <a:endParaRPr lang="en-US" sz="1400" dirty="0"/>
          </a:p>
        </p:txBody>
      </p:sp>
      <p:sp>
        <p:nvSpPr>
          <p:cNvPr id="23" name="Text 21"/>
          <p:cNvSpPr txBox="1"/>
          <p:nvPr/>
        </p:nvSpPr>
        <p:spPr>
          <a:xfrm>
            <a:off x="4443984" y="4818888"/>
            <a:ext cx="3236976" cy="365760"/>
          </a:xfrm>
          <a:prstGeom prst="rect">
            <a:avLst/>
          </a:prstGeom>
          <a:noFill/>
          <a:ln/>
        </p:spPr>
        <p:txBody>
          <a:bodyPr wrap="square" lIns="0" tIns="0" rIns="0" bIns="0" rtlCol="0" anchor="ctr"/>
          <a:lstStyle/>
          <a:p>
            <a:pPr algn="ctr" indent="0" marL="0">
              <a:buNone/>
            </a:pPr>
            <a:r>
              <a:rPr lang="en-US" sz="1100" dirty="0">
                <a:solidFill>
                  <a:srgbClr val="A9B4CC"/>
                </a:solidFill>
                <a:latin typeface="Calibri" pitchFamily="34" charset="0"/>
                <a:ea typeface="Calibri" pitchFamily="34" charset="-122"/>
                <a:cs typeface="Calibri" pitchFamily="34" charset="-120"/>
              </a:rPr>
              <a:t>arxiv.org · Vaswani et al., 2017</a:t>
            </a:r>
            <a:endParaRPr lang="en-US" sz="1100" dirty="0"/>
          </a:p>
        </p:txBody>
      </p:sp>
      <p:sp>
        <p:nvSpPr>
          <p:cNvPr id="24" name="Shape 22"/>
          <p:cNvSpPr/>
          <p:nvPr/>
        </p:nvSpPr>
        <p:spPr>
          <a:xfrm>
            <a:off x="8065008" y="3520440"/>
            <a:ext cx="3602736" cy="1828800"/>
          </a:xfrm>
          <a:prstGeom prst="roundRect">
            <a:avLst>
              <a:gd name="adj" fmla="val 4000"/>
            </a:avLst>
          </a:prstGeom>
          <a:solidFill>
            <a:srgbClr val="1B2540"/>
          </a:solidFill>
          <a:ln w="12700">
            <a:solidFill>
              <a:srgbClr val="273353"/>
            </a:solidFill>
            <a:prstDash val="solid"/>
          </a:ln>
        </p:spPr>
      </p:sp>
      <p:sp>
        <p:nvSpPr>
          <p:cNvPr id="25" name="Shape 23"/>
          <p:cNvSpPr/>
          <p:nvPr/>
        </p:nvSpPr>
        <p:spPr>
          <a:xfrm>
            <a:off x="9637776" y="3794760"/>
            <a:ext cx="457200" cy="457200"/>
          </a:xfrm>
          <a:prstGeom prst="ellipse">
            <a:avLst/>
          </a:prstGeom>
          <a:solidFill>
            <a:srgbClr val="E8B04B"/>
          </a:solidFill>
          <a:ln w="12700">
            <a:solidFill>
              <a:srgbClr val="E8B04B"/>
            </a:solidFill>
            <a:prstDash val="solid"/>
          </a:ln>
        </p:spPr>
      </p:sp>
      <p:sp>
        <p:nvSpPr>
          <p:cNvPr id="26" name="Text 24"/>
          <p:cNvSpPr txBox="1"/>
          <p:nvPr/>
        </p:nvSpPr>
        <p:spPr>
          <a:xfrm>
            <a:off x="8247888" y="4389120"/>
            <a:ext cx="3236976"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Apuntes UT1.1</a:t>
            </a:r>
            <a:endParaRPr lang="en-US" sz="1400" dirty="0"/>
          </a:p>
        </p:txBody>
      </p:sp>
      <p:sp>
        <p:nvSpPr>
          <p:cNvPr id="27" name="Text 25"/>
          <p:cNvSpPr txBox="1"/>
          <p:nvPr/>
        </p:nvSpPr>
        <p:spPr>
          <a:xfrm>
            <a:off x="8247888" y="4818888"/>
            <a:ext cx="3236976" cy="365760"/>
          </a:xfrm>
          <a:prstGeom prst="rect">
            <a:avLst/>
          </a:prstGeom>
          <a:noFill/>
          <a:ln/>
        </p:spPr>
        <p:txBody>
          <a:bodyPr wrap="square" lIns="0" tIns="0" rIns="0" bIns="0" rtlCol="0" anchor="ctr"/>
          <a:lstStyle/>
          <a:p>
            <a:pPr algn="ctr" indent="0" marL="0">
              <a:buNone/>
            </a:pPr>
            <a:r>
              <a:rPr lang="en-US" sz="1100" dirty="0">
                <a:solidFill>
                  <a:srgbClr val="A9B4CC"/>
                </a:solidFill>
                <a:latin typeface="Calibri" pitchFamily="34" charset="0"/>
                <a:ea typeface="Calibri" pitchFamily="34" charset="-122"/>
                <a:cs typeface="Calibri" pitchFamily="34" charset="-120"/>
              </a:rPr>
              <a:t>Aula virtual</a:t>
            </a:r>
            <a:endParaRPr lang="en-US" sz="1100" dirty="0"/>
          </a:p>
        </p:txBody>
      </p:sp>
      <p:sp>
        <p:nvSpPr>
          <p:cNvPr id="28" name="Text 26"/>
          <p:cNvSpPr txBox="1"/>
          <p:nvPr/>
        </p:nvSpPr>
        <p:spPr>
          <a:xfrm>
            <a:off x="457200" y="5852160"/>
            <a:ext cx="11274552" cy="310896"/>
          </a:xfrm>
          <a:prstGeom prst="rect">
            <a:avLst/>
          </a:prstGeom>
          <a:noFill/>
          <a:ln/>
        </p:spPr>
        <p:txBody>
          <a:bodyPr wrap="square" lIns="0" tIns="0" rIns="0" bIns="0" rtlCol="0" anchor="ctr"/>
          <a:lstStyle/>
          <a:p>
            <a:pPr algn="ctr" indent="0" marL="0">
              <a:buNone/>
            </a:pPr>
            <a:r>
              <a:rPr lang="en-US" sz="1300" b="1" dirty="0">
                <a:solidFill>
                  <a:srgbClr val="A9B4CC"/>
                </a:solidFill>
                <a:latin typeface="Arial" pitchFamily="34" charset="0"/>
                <a:ea typeface="Arial" pitchFamily="34" charset="-122"/>
                <a:cs typeface="Arial" pitchFamily="34" charset="-120"/>
              </a:rPr>
              <a:t>contrastadas con las respuestas de ChatGPT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ChatGPT y la programación concurrente</dc:title>
  <dc:subject>PptxGenJS Presentation</dc:subject>
  <dc:creator>Grupo ChatGPT</dc:creator>
  <cp:lastModifiedBy>Grupo ChatGPT</cp:lastModifiedBy>
  <cp:revision>1</cp:revision>
  <dcterms:created xsi:type="dcterms:W3CDTF">2026-09-15T07:43:15Z</dcterms:created>
  <dcterms:modified xsi:type="dcterms:W3CDTF">2026-09-15T07:43:15Z</dcterms:modified>
</cp:coreProperties>
</file>