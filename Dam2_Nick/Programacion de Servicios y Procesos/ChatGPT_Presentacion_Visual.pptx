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4" name="Google Shape;7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9" name="Google Shape;1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2" name="Google Shape;25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5" name="Google Shape;30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0" name="Google Shape;33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mc:AlternateContent>
    <mc:Choice Requires="p14">
      <p:transition spd="slow" p14:dur="900">
        <p14:gallery dir="l"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778240" y="-1371600"/>
            <a:ext cx="4937700" cy="4937700"/>
          </a:xfrm>
          <a:prstGeom prst="ellipse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966960" y="-182880"/>
            <a:ext cx="2560320" cy="2560320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744350" y="650543"/>
            <a:ext cx="7863900" cy="78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200"/>
              <a:buFont typeface="Arial"/>
              <a:buNone/>
            </a:pPr>
            <a:r>
              <a:rPr b="1" i="0" lang="en-US" sz="35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Investigación en grupo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3657600"/>
            <a:ext cx="7863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ChatGPT  /  OpenAI</a:t>
            </a:r>
            <a:endParaRPr b="1" i="0" sz="2200" u="none" cap="none" strike="noStrike">
              <a:solidFill>
                <a:srgbClr val="10A3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fmla="val 6667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3062126" y="5029150"/>
            <a:ext cx="8017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Daniel Rodríguez  ·  Oscar Marynowski  ·  Marcos Alegría</a:t>
            </a:r>
            <a:endParaRPr b="1" i="0" sz="1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1187050" y="5044300"/>
            <a:ext cx="6363300" cy="106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Nick Constante ·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772600" y="1582875"/>
            <a:ext cx="7000500" cy="19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¿Qué ocurre cuando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preguntas a una IA?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med">
        <p14:gallery dir="l"/>
      </p:transition>
    </mc:Choice>
    <mc:Fallback>
      <p:transition spd="med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6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6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1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701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801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802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803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804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5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731520" y="310896"/>
            <a:ext cx="108813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¿Qué es ChatGPT?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457200" y="1234440"/>
            <a:ext cx="2688336" cy="1234440"/>
          </a:xfrm>
          <a:prstGeom prst="roundRect">
            <a:avLst>
              <a:gd fmla="val 5926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457200" y="1389888"/>
            <a:ext cx="268833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OpenAI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457200" y="1847088"/>
            <a:ext cx="26883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2022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3328416" y="1234440"/>
            <a:ext cx="2688336" cy="1234440"/>
          </a:xfrm>
          <a:prstGeom prst="roundRect">
            <a:avLst>
              <a:gd fmla="val 5926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3328416" y="1389888"/>
            <a:ext cx="268833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8DE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5B8DEF"/>
                </a:solidFill>
                <a:latin typeface="Arial"/>
                <a:ea typeface="Arial"/>
                <a:cs typeface="Arial"/>
                <a:sym typeface="Arial"/>
              </a:rPr>
              <a:t>LLM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3328416" y="1847088"/>
            <a:ext cx="26883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Transformer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199632" y="1234440"/>
            <a:ext cx="2688336" cy="1234440"/>
          </a:xfrm>
          <a:prstGeom prst="roundRect">
            <a:avLst>
              <a:gd fmla="val 5926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6199632" y="1389888"/>
            <a:ext cx="268833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B04B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E8B04B"/>
                </a:solidFill>
                <a:latin typeface="Arial"/>
                <a:ea typeface="Arial"/>
                <a:cs typeface="Arial"/>
                <a:sym typeface="Arial"/>
              </a:rPr>
              <a:t>Multimodal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6199632" y="1847088"/>
            <a:ext cx="26883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texto · imagen · voz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9070848" y="1234440"/>
            <a:ext cx="2688336" cy="1234440"/>
          </a:xfrm>
          <a:prstGeom prst="roundRect">
            <a:avLst>
              <a:gd fmla="val 5926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9070848" y="1389888"/>
            <a:ext cx="268833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ChatGPT ≠ GPT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9070848" y="1847088"/>
            <a:ext cx="26883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app / modelo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57200" y="2743200"/>
            <a:ext cx="5120640" cy="3246120"/>
          </a:xfrm>
          <a:prstGeom prst="roundRect">
            <a:avLst>
              <a:gd fmla="val 2254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 txBox="1"/>
          <p:nvPr/>
        </p:nvSpPr>
        <p:spPr>
          <a:xfrm>
            <a:off x="457200" y="2971800"/>
            <a:ext cx="5120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TU PORTÁTIL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2057400" y="3520440"/>
            <a:ext cx="1920240" cy="1188720"/>
          </a:xfrm>
          <a:prstGeom prst="roundRect">
            <a:avLst>
              <a:gd fmla="val 4615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828800" y="4709160"/>
            <a:ext cx="2377440" cy="128016"/>
          </a:xfrm>
          <a:prstGeom prst="rect">
            <a:avLst/>
          </a:prstGeom>
          <a:solidFill>
            <a:srgbClr val="3D4E78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"/>
          <p:cNvSpPr txBox="1"/>
          <p:nvPr/>
        </p:nvSpPr>
        <p:spPr>
          <a:xfrm>
            <a:off x="2057400" y="5029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685A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E8685A"/>
                </a:solidFill>
                <a:latin typeface="Arial"/>
                <a:ea typeface="Arial"/>
                <a:cs typeface="Arial"/>
                <a:sym typeface="Arial"/>
              </a:rPr>
              <a:t>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 txBox="1"/>
          <p:nvPr/>
        </p:nvSpPr>
        <p:spPr>
          <a:xfrm>
            <a:off x="457200" y="5532120"/>
            <a:ext cx="5120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685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685A"/>
                </a:solidFill>
                <a:latin typeface="Arial"/>
                <a:ea typeface="Arial"/>
                <a:cs typeface="Arial"/>
                <a:sym typeface="Arial"/>
              </a:rPr>
              <a:t>no cabe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6126480" y="2743200"/>
            <a:ext cx="5605272" cy="3246120"/>
          </a:xfrm>
          <a:prstGeom prst="roundRect">
            <a:avLst>
              <a:gd fmla="val 2254" name="adj"/>
            </a:avLst>
          </a:prstGeom>
          <a:solidFill>
            <a:srgbClr val="1B2540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6126480" y="2971800"/>
            <a:ext cx="56052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CENTRO DE DATOS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6537960" y="352044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6537960" y="352044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7744968" y="352044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744968" y="352044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8951976" y="352044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8951976" y="352044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10158984" y="352044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10158984" y="352044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6537960" y="429768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6537960" y="429768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7744968" y="429768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744968" y="429768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8951976" y="429768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8951976" y="429768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10158984" y="4297680"/>
            <a:ext cx="1024128" cy="621792"/>
          </a:xfrm>
          <a:prstGeom prst="roundRect">
            <a:avLst>
              <a:gd fmla="val 7353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158984" y="4297680"/>
            <a:ext cx="1024128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 txBox="1"/>
          <p:nvPr/>
        </p:nvSpPr>
        <p:spPr>
          <a:xfrm>
            <a:off x="6126480" y="5029200"/>
            <a:ext cx="56052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 txBox="1"/>
          <p:nvPr/>
        </p:nvSpPr>
        <p:spPr>
          <a:xfrm>
            <a:off x="6126480" y="5532120"/>
            <a:ext cx="56052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cientos de miles de millones de parámetros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15038" y="3606888"/>
            <a:ext cx="1804978" cy="101582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4"/>
          <p:cNvSpPr txBox="1"/>
          <p:nvPr/>
        </p:nvSpPr>
        <p:spPr>
          <a:xfrm>
            <a:off x="2057388" y="3959390"/>
            <a:ext cx="1920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 GB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9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3" presetSubtype="3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w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h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31520" y="310896"/>
            <a:ext cx="108813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 viaje de una pregunta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75488" y="1737360"/>
            <a:ext cx="1700784" cy="2286000"/>
          </a:xfrm>
          <a:prstGeom prst="roundRect">
            <a:avLst>
              <a:gd fmla="val 4301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1115568" y="2103120"/>
            <a:ext cx="420624" cy="420624"/>
          </a:xfrm>
          <a:prstGeom prst="ellipse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1115568" y="21031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566928" y="2743200"/>
            <a:ext cx="15179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Usuario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2176272" y="2606040"/>
            <a:ext cx="20116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2377440" y="1737360"/>
            <a:ext cx="1700784" cy="2286000"/>
          </a:xfrm>
          <a:prstGeom prst="roundRect">
            <a:avLst>
              <a:gd fmla="val 4301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3017520" y="2103120"/>
            <a:ext cx="420624" cy="420624"/>
          </a:xfrm>
          <a:prstGeom prst="ellipse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3017520" y="21031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2468880" y="2743200"/>
            <a:ext cx="15179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Internet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 txBox="1"/>
          <p:nvPr/>
        </p:nvSpPr>
        <p:spPr>
          <a:xfrm>
            <a:off x="4078224" y="2606040"/>
            <a:ext cx="20116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4279392" y="1737360"/>
            <a:ext cx="1700784" cy="2286000"/>
          </a:xfrm>
          <a:prstGeom prst="roundRect">
            <a:avLst>
              <a:gd fmla="val 4301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4919472" y="2103120"/>
            <a:ext cx="420624" cy="420624"/>
          </a:xfrm>
          <a:prstGeom prst="ellipse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5"/>
          <p:cNvSpPr txBox="1"/>
          <p:nvPr/>
        </p:nvSpPr>
        <p:spPr>
          <a:xfrm>
            <a:off x="4919472" y="21031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4370832" y="2743200"/>
            <a:ext cx="15179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Balanceador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API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5980176" y="2606040"/>
            <a:ext cx="20116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6181344" y="1737360"/>
            <a:ext cx="1700784" cy="2286000"/>
          </a:xfrm>
          <a:prstGeom prst="roundRect">
            <a:avLst>
              <a:gd fmla="val 4301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821424" y="2103120"/>
            <a:ext cx="420624" cy="420624"/>
          </a:xfrm>
          <a:prstGeom prst="ellipse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6821424" y="21031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272784" y="2743200"/>
            <a:ext cx="15179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Tokenización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7882128" y="2606040"/>
            <a:ext cx="20116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8083296" y="1737360"/>
            <a:ext cx="1700784" cy="2286000"/>
          </a:xfrm>
          <a:prstGeom prst="roundRect">
            <a:avLst>
              <a:gd fmla="val 4301" name="adj"/>
            </a:avLst>
          </a:prstGeom>
          <a:solidFill>
            <a:srgbClr val="17402F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8723376" y="2103120"/>
            <a:ext cx="420624" cy="420624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8723376" y="21031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8174736" y="2743200"/>
            <a:ext cx="15179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Modelo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en GPUs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9784080" y="2606040"/>
            <a:ext cx="20116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9985248" y="1737360"/>
            <a:ext cx="1700784" cy="2286000"/>
          </a:xfrm>
          <a:prstGeom prst="roundRect">
            <a:avLst>
              <a:gd fmla="val 4301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0625328" y="2103120"/>
            <a:ext cx="420624" cy="420624"/>
          </a:xfrm>
          <a:prstGeom prst="ellipse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 txBox="1"/>
          <p:nvPr/>
        </p:nvSpPr>
        <p:spPr>
          <a:xfrm>
            <a:off x="10625328" y="21031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 txBox="1"/>
          <p:nvPr/>
        </p:nvSpPr>
        <p:spPr>
          <a:xfrm>
            <a:off x="10076688" y="2743200"/>
            <a:ext cx="15179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Streaming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475488" y="4343400"/>
            <a:ext cx="11237976" cy="822960"/>
          </a:xfrm>
          <a:prstGeom prst="roundRect">
            <a:avLst>
              <a:gd fmla="val 11111" name="adj"/>
            </a:avLst>
          </a:prstGeom>
          <a:solidFill>
            <a:srgbClr val="273353"/>
          </a:solidFill>
          <a:ln cap="flat" cmpd="sng" w="1905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475488" y="4343400"/>
            <a:ext cx="11237976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B04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B04B"/>
                </a:solidFill>
                <a:latin typeface="Arial"/>
                <a:ea typeface="Arial"/>
                <a:cs typeface="Arial"/>
                <a:sym typeface="Arial"/>
              </a:rPr>
              <a:t>   se repite una vez por cada token de la respuesta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475488" y="5486400"/>
            <a:ext cx="1123797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el modelo solo está en el paso 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/>
          <p:nvPr/>
        </p:nvSpPr>
        <p:spPr>
          <a:xfrm>
            <a:off x="761800" y="310850"/>
            <a:ext cx="161700" cy="621900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6"/>
          <p:cNvSpPr txBox="1"/>
          <p:nvPr/>
        </p:nvSpPr>
        <p:spPr>
          <a:xfrm>
            <a:off x="1049045" y="310846"/>
            <a:ext cx="10881300" cy="62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Procesos e hilos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57200" y="1280160"/>
            <a:ext cx="5532000" cy="4846200"/>
          </a:xfrm>
          <a:prstGeom prst="roundRect">
            <a:avLst>
              <a:gd fmla="val 150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6"/>
          <p:cNvSpPr txBox="1"/>
          <p:nvPr/>
        </p:nvSpPr>
        <p:spPr>
          <a:xfrm>
            <a:off x="457200" y="1705310"/>
            <a:ext cx="5532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8DEF"/>
              </a:buClr>
              <a:buSzPts val="1300"/>
              <a:buFont typeface="Arial"/>
              <a:buNone/>
            </a:pPr>
            <a:r>
              <a:rPr b="1" i="0" lang="en-US" sz="2000" u="none" cap="none" strike="noStrike">
                <a:solidFill>
                  <a:srgbClr val="5B8DEF"/>
                </a:solidFill>
                <a:latin typeface="Arial"/>
                <a:ea typeface="Arial"/>
                <a:cs typeface="Arial"/>
                <a:sym typeface="Arial"/>
              </a:rPr>
              <a:t>PROCESOS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822960" y="2286000"/>
            <a:ext cx="4800600" cy="749808"/>
          </a:xfrm>
          <a:prstGeom prst="roundRect">
            <a:avLst>
              <a:gd fmla="val 731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6"/>
          <p:cNvSpPr txBox="1"/>
          <p:nvPr/>
        </p:nvSpPr>
        <p:spPr>
          <a:xfrm>
            <a:off x="822960" y="2286000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Servidor web / API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822960" y="3218688"/>
            <a:ext cx="4800600" cy="749808"/>
          </a:xfrm>
          <a:prstGeom prst="roundRect">
            <a:avLst>
              <a:gd fmla="val 731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822960" y="3218688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Moderación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822960" y="4151376"/>
            <a:ext cx="4800600" cy="749808"/>
          </a:xfrm>
          <a:prstGeom prst="roundRect">
            <a:avLst>
              <a:gd fmla="val 731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6"/>
          <p:cNvSpPr txBox="1"/>
          <p:nvPr/>
        </p:nvSpPr>
        <p:spPr>
          <a:xfrm>
            <a:off x="822960" y="4151376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Motor de inferencia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822960" y="5084064"/>
            <a:ext cx="4800600" cy="749808"/>
          </a:xfrm>
          <a:prstGeom prst="roundRect">
            <a:avLst>
              <a:gd fmla="val 731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822960" y="5084064"/>
            <a:ext cx="4800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6217920" y="1280160"/>
            <a:ext cx="5513832" cy="4846320"/>
          </a:xfrm>
          <a:prstGeom prst="roundRect">
            <a:avLst>
              <a:gd fmla="val 150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6217908" y="1705260"/>
            <a:ext cx="5513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21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HILOS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6537960" y="2240280"/>
            <a:ext cx="4892040" cy="3611880"/>
          </a:xfrm>
          <a:prstGeom prst="roundRect">
            <a:avLst>
              <a:gd fmla="val 2025" name="adj"/>
            </a:avLst>
          </a:prstGeom>
          <a:solidFill>
            <a:srgbClr val="12203A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6537950" y="2395720"/>
            <a:ext cx="48921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27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Motor de inferencia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6858000" y="5111598"/>
            <a:ext cx="4251900" cy="475500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6858025" y="4581122"/>
            <a:ext cx="4251900" cy="438900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 txBox="1"/>
          <p:nvPr/>
        </p:nvSpPr>
        <p:spPr>
          <a:xfrm>
            <a:off x="6903700" y="5084072"/>
            <a:ext cx="4251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métricas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6858000" y="4006197"/>
            <a:ext cx="4251900" cy="438900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6848875" y="4006204"/>
            <a:ext cx="4251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copiar a GPU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6858025" y="4577132"/>
            <a:ext cx="4251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planificar lote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6858025" y="3435272"/>
            <a:ext cx="4251900" cy="438900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6949450" y="3431275"/>
            <a:ext cx="4160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 / streaming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731520" y="310896"/>
            <a:ext cx="108813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Concurrencia y paralelismo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57200" y="1234440"/>
            <a:ext cx="5440800" cy="2651700"/>
          </a:xfrm>
          <a:prstGeom prst="roundRect">
            <a:avLst>
              <a:gd fmla="val 275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457200" y="1444752"/>
            <a:ext cx="5440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8DE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5B8DEF"/>
                </a:solidFill>
                <a:latin typeface="Arial"/>
                <a:ea typeface="Arial"/>
                <a:cs typeface="Arial"/>
                <a:sym typeface="Arial"/>
              </a:rPr>
              <a:t>CONCURRENCIA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 txBox="1"/>
          <p:nvPr/>
        </p:nvSpPr>
        <p:spPr>
          <a:xfrm>
            <a:off x="457200" y="1783080"/>
            <a:ext cx="5440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1 núcleo, tareas mezcladas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2521451" y="2308863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3700470" y="2308863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 txBox="1"/>
          <p:nvPr/>
        </p:nvSpPr>
        <p:spPr>
          <a:xfrm>
            <a:off x="457200" y="3108960"/>
            <a:ext cx="5440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núcleo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 txBox="1"/>
          <p:nvPr/>
        </p:nvSpPr>
        <p:spPr>
          <a:xfrm>
            <a:off x="457200" y="3429000"/>
            <a:ext cx="5440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avanzan todas a la vez, pero por turnos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291072" y="1234440"/>
            <a:ext cx="5440800" cy="2651700"/>
          </a:xfrm>
          <a:prstGeom prst="roundRect">
            <a:avLst>
              <a:gd fmla="val 275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 txBox="1"/>
          <p:nvPr/>
        </p:nvSpPr>
        <p:spPr>
          <a:xfrm>
            <a:off x="6291072" y="1444752"/>
            <a:ext cx="5440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PARALELISMO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6291072" y="1783080"/>
            <a:ext cx="544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varios nucleos, varias unidades a la vez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7498080" y="2194560"/>
            <a:ext cx="548640" cy="292608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092459" y="2194640"/>
            <a:ext cx="548700" cy="2925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 txBox="1"/>
          <p:nvPr/>
        </p:nvSpPr>
        <p:spPr>
          <a:xfrm>
            <a:off x="6537960" y="219456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núcleo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7498080" y="2578608"/>
            <a:ext cx="548640" cy="292608"/>
          </a:xfrm>
          <a:prstGeom prst="rect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8092447" y="2587788"/>
            <a:ext cx="548700" cy="292500"/>
          </a:xfrm>
          <a:prstGeom prst="rect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6537960" y="2578608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núcleo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498080" y="2980894"/>
            <a:ext cx="548700" cy="292500"/>
          </a:xfrm>
          <a:prstGeom prst="rect">
            <a:avLst/>
          </a:prstGeom>
          <a:solidFill>
            <a:srgbClr val="E8B04B"/>
          </a:solidFill>
          <a:ln cap="flat" cmpd="sng" w="127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092459" y="2980956"/>
            <a:ext cx="548700" cy="292500"/>
          </a:xfrm>
          <a:prstGeom prst="rect">
            <a:avLst/>
          </a:prstGeom>
          <a:solidFill>
            <a:srgbClr val="E8B04B"/>
          </a:solidFill>
          <a:ln cap="flat" cmpd="sng" w="127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7"/>
          <p:cNvSpPr txBox="1"/>
          <p:nvPr/>
        </p:nvSpPr>
        <p:spPr>
          <a:xfrm>
            <a:off x="6537960" y="2962656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núcleo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 txBox="1"/>
          <p:nvPr/>
        </p:nvSpPr>
        <p:spPr>
          <a:xfrm>
            <a:off x="6291072" y="3429000"/>
            <a:ext cx="5440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trabajando varias en paralelo al mismo tiempo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" y="4160520"/>
            <a:ext cx="11274552" cy="1965960"/>
          </a:xfrm>
          <a:prstGeom prst="roundRect">
            <a:avLst>
              <a:gd fmla="val 3721" name="adj"/>
            </a:avLst>
          </a:prstGeom>
          <a:solidFill>
            <a:srgbClr val="1B2540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457200" y="4370832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B04B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E8B04B"/>
                </a:solidFill>
                <a:latin typeface="Arial"/>
                <a:ea typeface="Arial"/>
                <a:cs typeface="Arial"/>
                <a:sym typeface="Arial"/>
              </a:rPr>
              <a:t>EN CHATGPT: LAS DOS COSAS  &gt; BATCHING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1280160" y="4937760"/>
            <a:ext cx="1783080" cy="566928"/>
          </a:xfrm>
          <a:prstGeom prst="roundRect">
            <a:avLst>
              <a:gd fmla="val 967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1280160" y="4937760"/>
            <a:ext cx="1783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Usuario 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3291840" y="4937760"/>
            <a:ext cx="1783080" cy="566928"/>
          </a:xfrm>
          <a:prstGeom prst="roundRect">
            <a:avLst>
              <a:gd fmla="val 967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"/>
          <p:cNvSpPr txBox="1"/>
          <p:nvPr/>
        </p:nvSpPr>
        <p:spPr>
          <a:xfrm>
            <a:off x="3291840" y="4937760"/>
            <a:ext cx="1783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Usuario B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5303520" y="4937760"/>
            <a:ext cx="1783080" cy="566928"/>
          </a:xfrm>
          <a:prstGeom prst="roundRect">
            <a:avLst>
              <a:gd fmla="val 967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7"/>
          <p:cNvSpPr txBox="1"/>
          <p:nvPr/>
        </p:nvSpPr>
        <p:spPr>
          <a:xfrm>
            <a:off x="5303520" y="4937760"/>
            <a:ext cx="1783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Usuario 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 txBox="1"/>
          <p:nvPr/>
        </p:nvSpPr>
        <p:spPr>
          <a:xfrm>
            <a:off x="7315200" y="4937760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8046720" y="4937760"/>
            <a:ext cx="3200400" cy="566928"/>
          </a:xfrm>
          <a:prstGeom prst="roundRect">
            <a:avLst>
              <a:gd fmla="val 9677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7"/>
          <p:cNvSpPr txBox="1"/>
          <p:nvPr/>
        </p:nvSpPr>
        <p:spPr>
          <a:xfrm>
            <a:off x="8046720" y="4937760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1 pasada en la GPU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 txBox="1"/>
          <p:nvPr/>
        </p:nvSpPr>
        <p:spPr>
          <a:xfrm>
            <a:off x="457200" y="5623560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peticiones de usuarios distintos en un mismo lote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3112382" y="2308863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731438" y="2308850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1924795" y="2308863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1316708" y="2308850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4287101" y="2308863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4873733" y="2308850"/>
            <a:ext cx="530400" cy="6858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8686880" y="2194573"/>
            <a:ext cx="548700" cy="2925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9281259" y="2194653"/>
            <a:ext cx="548700" cy="2925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9875630" y="2194610"/>
            <a:ext cx="548700" cy="2925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10470009" y="2194690"/>
            <a:ext cx="548700" cy="292500"/>
          </a:xfrm>
          <a:prstGeom prst="rect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8686880" y="2574071"/>
            <a:ext cx="548700" cy="292500"/>
          </a:xfrm>
          <a:prstGeom prst="rect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9281247" y="2583250"/>
            <a:ext cx="548700" cy="292500"/>
          </a:xfrm>
          <a:prstGeom prst="rect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9875630" y="2588033"/>
            <a:ext cx="548700" cy="292500"/>
          </a:xfrm>
          <a:prstGeom prst="rect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10469997" y="2597213"/>
            <a:ext cx="548700" cy="292500"/>
          </a:xfrm>
          <a:prstGeom prst="rect">
            <a:avLst/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8686830" y="2980919"/>
            <a:ext cx="548700" cy="292500"/>
          </a:xfrm>
          <a:prstGeom prst="rect">
            <a:avLst/>
          </a:prstGeom>
          <a:solidFill>
            <a:srgbClr val="E8B04B"/>
          </a:solidFill>
          <a:ln cap="flat" cmpd="sng" w="127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9281209" y="2980981"/>
            <a:ext cx="548700" cy="292500"/>
          </a:xfrm>
          <a:prstGeom prst="rect">
            <a:avLst/>
          </a:prstGeom>
          <a:solidFill>
            <a:srgbClr val="E8B04B"/>
          </a:solidFill>
          <a:ln cap="flat" cmpd="sng" w="127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9875580" y="2980919"/>
            <a:ext cx="548700" cy="292500"/>
          </a:xfrm>
          <a:prstGeom prst="rect">
            <a:avLst/>
          </a:prstGeom>
          <a:solidFill>
            <a:srgbClr val="E8B04B"/>
          </a:solidFill>
          <a:ln cap="flat" cmpd="sng" w="127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10469959" y="2980981"/>
            <a:ext cx="548700" cy="292500"/>
          </a:xfrm>
          <a:prstGeom prst="rect">
            <a:avLst/>
          </a:prstGeom>
          <a:solidFill>
            <a:srgbClr val="E8B04B"/>
          </a:solidFill>
          <a:ln cap="flat" cmpd="sng" w="127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7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9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100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300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7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9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8"/>
          <p:cNvSpPr txBox="1"/>
          <p:nvPr/>
        </p:nvSpPr>
        <p:spPr>
          <a:xfrm>
            <a:off x="731525" y="310900"/>
            <a:ext cx="11460600" cy="62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 sistema distribuido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00" y="1234440"/>
            <a:ext cx="11274552" cy="3977640"/>
          </a:xfrm>
          <a:prstGeom prst="roundRect">
            <a:avLst>
              <a:gd fmla="val 183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4023360" y="1508760"/>
            <a:ext cx="4114800" cy="566928"/>
          </a:xfrm>
          <a:prstGeom prst="roundRect">
            <a:avLst>
              <a:gd fmla="val 9677" name="adj"/>
            </a:avLst>
          </a:prstGeom>
          <a:solidFill>
            <a:srgbClr val="273353"/>
          </a:solidFill>
          <a:ln cap="flat" cmpd="sng" w="1905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4023360" y="1508760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Balanceador + planificador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5623560" y="21031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▼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914400" y="2468880"/>
            <a:ext cx="3200400" cy="1965960"/>
          </a:xfrm>
          <a:prstGeom prst="roundRect">
            <a:avLst>
              <a:gd fmla="val 3721" name="adj"/>
            </a:avLst>
          </a:prstGeom>
          <a:solidFill>
            <a:srgbClr val="12203A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914400" y="2606040"/>
            <a:ext cx="3200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Servidor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1188720" y="3063240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 txBox="1"/>
          <p:nvPr/>
        </p:nvSpPr>
        <p:spPr>
          <a:xfrm>
            <a:off x="118872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2606040" y="3063240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8"/>
          <p:cNvSpPr txBox="1"/>
          <p:nvPr/>
        </p:nvSpPr>
        <p:spPr>
          <a:xfrm>
            <a:off x="260604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1188720" y="3721608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8"/>
          <p:cNvSpPr txBox="1"/>
          <p:nvPr/>
        </p:nvSpPr>
        <p:spPr>
          <a:xfrm>
            <a:off x="1188720" y="3721608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2606040" y="3721608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 txBox="1"/>
          <p:nvPr/>
        </p:nvSpPr>
        <p:spPr>
          <a:xfrm>
            <a:off x="2606040" y="3721608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 txBox="1"/>
          <p:nvPr/>
        </p:nvSpPr>
        <p:spPr>
          <a:xfrm>
            <a:off x="914400" y="4434840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capas 1-40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8" name="Google Shape;218;p8"/>
          <p:cNvCxnSpPr/>
          <p:nvPr/>
        </p:nvCxnSpPr>
        <p:spPr>
          <a:xfrm>
            <a:off x="4114800" y="3456432"/>
            <a:ext cx="320040" cy="0"/>
          </a:xfrm>
          <a:prstGeom prst="straightConnector1">
            <a:avLst/>
          </a:prstGeom>
          <a:noFill/>
          <a:ln cap="flat" cmpd="sng" w="381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9" name="Google Shape;219;p8"/>
          <p:cNvSpPr/>
          <p:nvPr/>
        </p:nvSpPr>
        <p:spPr>
          <a:xfrm>
            <a:off x="4434840" y="2468880"/>
            <a:ext cx="3200400" cy="1965900"/>
          </a:xfrm>
          <a:prstGeom prst="roundRect">
            <a:avLst>
              <a:gd fmla="val 3721" name="adj"/>
            </a:avLst>
          </a:prstGeom>
          <a:solidFill>
            <a:srgbClr val="12203A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8"/>
          <p:cNvSpPr txBox="1"/>
          <p:nvPr/>
        </p:nvSpPr>
        <p:spPr>
          <a:xfrm>
            <a:off x="4434840" y="2606040"/>
            <a:ext cx="3200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Servidor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4709160" y="3063240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8"/>
          <p:cNvSpPr txBox="1"/>
          <p:nvPr/>
        </p:nvSpPr>
        <p:spPr>
          <a:xfrm>
            <a:off x="470916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6126480" y="3063240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612648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709160" y="3721608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4709160" y="3721608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6126480" y="3721608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6126480" y="3721608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4434840" y="4434840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capas 41-80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0" name="Google Shape;230;p8"/>
          <p:cNvCxnSpPr/>
          <p:nvPr/>
        </p:nvCxnSpPr>
        <p:spPr>
          <a:xfrm>
            <a:off x="7635240" y="3456432"/>
            <a:ext cx="320040" cy="0"/>
          </a:xfrm>
          <a:prstGeom prst="straightConnector1">
            <a:avLst/>
          </a:prstGeom>
          <a:noFill/>
          <a:ln cap="flat" cmpd="sng" w="38100">
            <a:solidFill>
              <a:srgbClr val="E8B04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8"/>
          <p:cNvSpPr/>
          <p:nvPr/>
        </p:nvSpPr>
        <p:spPr>
          <a:xfrm>
            <a:off x="7955280" y="2468880"/>
            <a:ext cx="3200400" cy="1965960"/>
          </a:xfrm>
          <a:prstGeom prst="roundRect">
            <a:avLst>
              <a:gd fmla="val 3721" name="adj"/>
            </a:avLst>
          </a:prstGeom>
          <a:solidFill>
            <a:srgbClr val="12203A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7955280" y="2606040"/>
            <a:ext cx="3200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Servidor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8229600" y="3063240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822960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9646920" y="3063240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9646920" y="3063240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8229600" y="3721608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8229600" y="3721608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9646920" y="3721608"/>
            <a:ext cx="1234440" cy="530352"/>
          </a:xfrm>
          <a:prstGeom prst="roundRect">
            <a:avLst>
              <a:gd fmla="val 8621" name="adj"/>
            </a:avLst>
          </a:prstGeom>
          <a:solidFill>
            <a:srgbClr val="273353"/>
          </a:solidFill>
          <a:ln cap="flat" cmpd="sng" w="12700">
            <a:solidFill>
              <a:srgbClr val="3D4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8"/>
          <p:cNvSpPr txBox="1"/>
          <p:nvPr/>
        </p:nvSpPr>
        <p:spPr>
          <a:xfrm>
            <a:off x="9646920" y="3721608"/>
            <a:ext cx="1234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 txBox="1"/>
          <p:nvPr/>
        </p:nvSpPr>
        <p:spPr>
          <a:xfrm>
            <a:off x="7955280" y="4434840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capas 81-120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457200" y="4754880"/>
            <a:ext cx="1127455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B04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B04B"/>
                </a:solidFill>
                <a:latin typeface="Arial"/>
                <a:ea typeface="Arial"/>
                <a:cs typeface="Arial"/>
                <a:sym typeface="Arial"/>
              </a:rPr>
              <a:t>conectados por red de alta velocidad · el modelo no cabe en una sola GPU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1463040" y="5486400"/>
            <a:ext cx="2834640" cy="566928"/>
          </a:xfrm>
          <a:prstGeom prst="roundRect">
            <a:avLst>
              <a:gd fmla="val 16129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1463040" y="5486400"/>
            <a:ext cx="2834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Latencia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663440" y="5486400"/>
            <a:ext cx="2834640" cy="566928"/>
          </a:xfrm>
          <a:prstGeom prst="roundRect">
            <a:avLst>
              <a:gd fmla="val 16129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 txBox="1"/>
          <p:nvPr/>
        </p:nvSpPr>
        <p:spPr>
          <a:xfrm>
            <a:off x="4663440" y="5486400"/>
            <a:ext cx="2834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Tolerancia a fallos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7863840" y="5486400"/>
            <a:ext cx="2834640" cy="566928"/>
          </a:xfrm>
          <a:prstGeom prst="roundRect">
            <a:avLst>
              <a:gd fmla="val 16129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8"/>
          <p:cNvSpPr txBox="1"/>
          <p:nvPr/>
        </p:nvSpPr>
        <p:spPr>
          <a:xfrm>
            <a:off x="7863840" y="5486400"/>
            <a:ext cx="2834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Coherencia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9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9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731520" y="310896"/>
            <a:ext cx="108813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 sistema operativo decide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457200" y="1280160"/>
            <a:ext cx="5532120" cy="4846320"/>
          </a:xfrm>
          <a:prstGeom prst="roundRect">
            <a:avLst>
              <a:gd fmla="val 150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457200" y="1508760"/>
            <a:ext cx="5532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8DE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B8DEF"/>
                </a:solidFill>
                <a:latin typeface="Arial"/>
                <a:ea typeface="Arial"/>
                <a:cs typeface="Arial"/>
                <a:sym typeface="Arial"/>
              </a:rPr>
              <a:t>MÁS TAREAS QUE NÚCLEOS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868680" y="2011680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868680" y="2011680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2075688" y="2011680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 txBox="1"/>
          <p:nvPr/>
        </p:nvSpPr>
        <p:spPr>
          <a:xfrm>
            <a:off x="2075688" y="2011680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3282696" y="2011680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 txBox="1"/>
          <p:nvPr/>
        </p:nvSpPr>
        <p:spPr>
          <a:xfrm>
            <a:off x="3282696" y="2011680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4489704" y="2011680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 txBox="1"/>
          <p:nvPr/>
        </p:nvSpPr>
        <p:spPr>
          <a:xfrm>
            <a:off x="4489704" y="2011680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868680" y="2578608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 txBox="1"/>
          <p:nvPr/>
        </p:nvSpPr>
        <p:spPr>
          <a:xfrm>
            <a:off x="868680" y="2578608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2075688" y="2578608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 txBox="1"/>
          <p:nvPr/>
        </p:nvSpPr>
        <p:spPr>
          <a:xfrm>
            <a:off x="2075688" y="2578608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3282696" y="2578608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9"/>
          <p:cNvSpPr txBox="1"/>
          <p:nvPr/>
        </p:nvSpPr>
        <p:spPr>
          <a:xfrm>
            <a:off x="3282696" y="2578608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489704" y="2578608"/>
            <a:ext cx="1024128" cy="438912"/>
          </a:xfrm>
          <a:prstGeom prst="roundRect">
            <a:avLst>
              <a:gd fmla="val 10417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 txBox="1"/>
          <p:nvPr/>
        </p:nvSpPr>
        <p:spPr>
          <a:xfrm>
            <a:off x="4489704" y="2578608"/>
            <a:ext cx="102412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tarea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1417320" y="3337560"/>
            <a:ext cx="3611880" cy="566928"/>
          </a:xfrm>
          <a:prstGeom prst="roundRect">
            <a:avLst>
              <a:gd fmla="val 16129" name="adj"/>
            </a:avLst>
          </a:prstGeom>
          <a:solidFill>
            <a:srgbClr val="5B8DEF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9"/>
          <p:cNvSpPr txBox="1"/>
          <p:nvPr/>
        </p:nvSpPr>
        <p:spPr>
          <a:xfrm>
            <a:off x="1417320" y="3337560"/>
            <a:ext cx="36118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1628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E1628"/>
                </a:solidFill>
                <a:latin typeface="Arial"/>
                <a:ea typeface="Arial"/>
                <a:cs typeface="Arial"/>
                <a:sym typeface="Arial"/>
              </a:rPr>
              <a:t>PLANIFICADOR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 txBox="1"/>
          <p:nvPr/>
        </p:nvSpPr>
        <p:spPr>
          <a:xfrm>
            <a:off x="2743200" y="39776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8DE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B8DEF"/>
                </a:solidFill>
                <a:latin typeface="Arial"/>
                <a:ea typeface="Arial"/>
                <a:cs typeface="Arial"/>
                <a:sym typeface="Arial"/>
              </a:rPr>
              <a:t>▼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1417320" y="4343400"/>
            <a:ext cx="1051560" cy="566928"/>
          </a:xfrm>
          <a:prstGeom prst="roundRect">
            <a:avLst>
              <a:gd fmla="val 8065" name="adj"/>
            </a:avLst>
          </a:prstGeom>
          <a:solidFill>
            <a:srgbClr val="12203A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1417320" y="4343400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núcleo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2697480" y="4343400"/>
            <a:ext cx="1051560" cy="566928"/>
          </a:xfrm>
          <a:prstGeom prst="roundRect">
            <a:avLst>
              <a:gd fmla="val 8065" name="adj"/>
            </a:avLst>
          </a:prstGeom>
          <a:solidFill>
            <a:srgbClr val="12203A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9"/>
          <p:cNvSpPr txBox="1"/>
          <p:nvPr/>
        </p:nvSpPr>
        <p:spPr>
          <a:xfrm>
            <a:off x="2697480" y="4343400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núcleo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3977640" y="4343400"/>
            <a:ext cx="1051560" cy="566928"/>
          </a:xfrm>
          <a:prstGeom prst="roundRect">
            <a:avLst>
              <a:gd fmla="val 8065" name="adj"/>
            </a:avLst>
          </a:prstGeom>
          <a:solidFill>
            <a:srgbClr val="12203A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3977640" y="4343400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núcleo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 txBox="1"/>
          <p:nvPr/>
        </p:nvSpPr>
        <p:spPr>
          <a:xfrm>
            <a:off x="457200" y="5120640"/>
            <a:ext cx="5532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A9B4CC"/>
                </a:solidFill>
                <a:latin typeface="Arial"/>
                <a:ea typeface="Arial"/>
                <a:cs typeface="Arial"/>
                <a:sym typeface="Arial"/>
              </a:rPr>
              <a:t>turnos y prioridades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457200" y="5486400"/>
            <a:ext cx="5532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+ un 2.º planificador para los lotes de GPU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6217920" y="1280160"/>
            <a:ext cx="5513832" cy="4846320"/>
          </a:xfrm>
          <a:prstGeom prst="roundRect">
            <a:avLst>
              <a:gd fmla="val 1509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6217920" y="1508760"/>
            <a:ext cx="55138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CAMBIO DE CONTEXTO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6675120" y="2057400"/>
            <a:ext cx="2011680" cy="822960"/>
          </a:xfrm>
          <a:prstGeom prst="roundRect">
            <a:avLst>
              <a:gd fmla="val 6667" name="adj"/>
            </a:avLst>
          </a:prstGeom>
          <a:solidFill>
            <a:srgbClr val="273353"/>
          </a:solidFill>
          <a:ln cap="flat" cmpd="sng" w="12700">
            <a:solidFill>
              <a:srgbClr val="5B8D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9"/>
          <p:cNvSpPr txBox="1"/>
          <p:nvPr/>
        </p:nvSpPr>
        <p:spPr>
          <a:xfrm>
            <a:off x="6675120" y="2057400"/>
            <a:ext cx="2011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Tarea 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 txBox="1"/>
          <p:nvPr/>
        </p:nvSpPr>
        <p:spPr>
          <a:xfrm>
            <a:off x="8686800" y="2057400"/>
            <a:ext cx="731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B04B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8B04B"/>
                </a:solidFill>
                <a:latin typeface="Arial"/>
                <a:ea typeface="Arial"/>
                <a:cs typeface="Arial"/>
                <a:sym typeface="Arial"/>
              </a:rPr>
              <a:t>⇄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9418320" y="2057400"/>
            <a:ext cx="2011680" cy="822960"/>
          </a:xfrm>
          <a:prstGeom prst="roundRect">
            <a:avLst>
              <a:gd fmla="val 6667" name="adj"/>
            </a:avLst>
          </a:prstGeom>
          <a:solidFill>
            <a:srgbClr val="273353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9"/>
          <p:cNvSpPr txBox="1"/>
          <p:nvPr/>
        </p:nvSpPr>
        <p:spPr>
          <a:xfrm>
            <a:off x="9418320" y="2057400"/>
            <a:ext cx="2011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Tarea 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6675120" y="3154680"/>
            <a:ext cx="4754880" cy="658368"/>
          </a:xfrm>
          <a:prstGeom prst="roundRect">
            <a:avLst>
              <a:gd fmla="val 8333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9"/>
          <p:cNvSpPr txBox="1"/>
          <p:nvPr/>
        </p:nvSpPr>
        <p:spPr>
          <a:xfrm>
            <a:off x="6858000" y="3154680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Guardar estado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9235440" y="3154680"/>
            <a:ext cx="2011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registros, PC, pila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9"/>
          <p:cNvSpPr/>
          <p:nvPr/>
        </p:nvSpPr>
        <p:spPr>
          <a:xfrm>
            <a:off x="6675120" y="3931920"/>
            <a:ext cx="4754880" cy="658368"/>
          </a:xfrm>
          <a:prstGeom prst="roundRect">
            <a:avLst>
              <a:gd fmla="val 8333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9"/>
          <p:cNvSpPr txBox="1"/>
          <p:nvPr/>
        </p:nvSpPr>
        <p:spPr>
          <a:xfrm>
            <a:off x="6858000" y="3931920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Cargar el otro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 txBox="1"/>
          <p:nvPr/>
        </p:nvSpPr>
        <p:spPr>
          <a:xfrm>
            <a:off x="9235440" y="3931920"/>
            <a:ext cx="2011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microsegundos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6675120" y="4709160"/>
            <a:ext cx="4754880" cy="658368"/>
          </a:xfrm>
          <a:prstGeom prst="roundRect">
            <a:avLst>
              <a:gd fmla="val 8333" name="adj"/>
            </a:avLst>
          </a:prstGeom>
          <a:solidFill>
            <a:srgbClr val="273353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9"/>
          <p:cNvSpPr txBox="1"/>
          <p:nvPr/>
        </p:nvSpPr>
        <p:spPr>
          <a:xfrm>
            <a:off x="6858000" y="4709160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Caché fría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 txBox="1"/>
          <p:nvPr/>
        </p:nvSpPr>
        <p:spPr>
          <a:xfrm>
            <a:off x="9235440" y="4709160"/>
            <a:ext cx="2011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B04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E8B04B"/>
                </a:solidFill>
                <a:latin typeface="Calibri"/>
                <a:ea typeface="Calibri"/>
                <a:cs typeface="Calibri"/>
                <a:sym typeface="Calibri"/>
              </a:rPr>
              <a:t>el coste oculto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 txBox="1"/>
          <p:nvPr/>
        </p:nvSpPr>
        <p:spPr>
          <a:xfrm>
            <a:off x="6217920" y="5532120"/>
            <a:ext cx="55138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en GPU es mucho más caro → se evita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0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 txBox="1"/>
          <p:nvPr/>
        </p:nvSpPr>
        <p:spPr>
          <a:xfrm>
            <a:off x="731520" y="310896"/>
            <a:ext cx="108813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 que dijo la IA... y lo que no cuadra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457200" y="1280160"/>
            <a:ext cx="3602736" cy="3383280"/>
          </a:xfrm>
          <a:prstGeom prst="roundRect">
            <a:avLst>
              <a:gd fmla="val 2162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0"/>
          <p:cNvSpPr txBox="1"/>
          <p:nvPr/>
        </p:nvSpPr>
        <p:spPr>
          <a:xfrm>
            <a:off x="640080" y="1554480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“¿Un hilo por usuario?”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0"/>
          <p:cNvSpPr/>
          <p:nvPr/>
        </p:nvSpPr>
        <p:spPr>
          <a:xfrm>
            <a:off x="1892808" y="2468880"/>
            <a:ext cx="731520" cy="731520"/>
          </a:xfrm>
          <a:prstGeom prst="ellipse">
            <a:avLst/>
          </a:prstGeom>
          <a:solidFill>
            <a:srgbClr val="E8685A"/>
          </a:solidFill>
          <a:ln cap="flat" cmpd="sng" w="12700">
            <a:solidFill>
              <a:srgbClr val="E868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0"/>
          <p:cNvSpPr txBox="1"/>
          <p:nvPr/>
        </p:nvSpPr>
        <p:spPr>
          <a:xfrm>
            <a:off x="1892808" y="246888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0"/>
          <p:cNvSpPr txBox="1"/>
          <p:nvPr/>
        </p:nvSpPr>
        <p:spPr>
          <a:xfrm>
            <a:off x="640080" y="3383280"/>
            <a:ext cx="323697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0A37F"/>
                </a:solidFill>
                <a:latin typeface="Calibri"/>
                <a:ea typeface="Calibri"/>
                <a:cs typeface="Calibri"/>
                <a:sym typeface="Calibri"/>
              </a:rPr>
              <a:t>No escala: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0A37F"/>
                </a:solidFill>
                <a:latin typeface="Calibri"/>
                <a:ea typeface="Calibri"/>
                <a:cs typeface="Calibri"/>
                <a:sym typeface="Calibri"/>
              </a:rPr>
              <a:t>E/S asíncrona y batching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0"/>
          <p:cNvSpPr/>
          <p:nvPr/>
        </p:nvSpPr>
        <p:spPr>
          <a:xfrm>
            <a:off x="4261104" y="1280160"/>
            <a:ext cx="3602736" cy="3383280"/>
          </a:xfrm>
          <a:prstGeom prst="roundRect">
            <a:avLst>
              <a:gd fmla="val 2162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0"/>
          <p:cNvSpPr txBox="1"/>
          <p:nvPr/>
        </p:nvSpPr>
        <p:spPr>
          <a:xfrm>
            <a:off x="4443984" y="1554480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“¿Usas TPU?”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0"/>
          <p:cNvSpPr/>
          <p:nvPr/>
        </p:nvSpPr>
        <p:spPr>
          <a:xfrm>
            <a:off x="5696712" y="2468880"/>
            <a:ext cx="731520" cy="731520"/>
          </a:xfrm>
          <a:prstGeom prst="ellipse">
            <a:avLst/>
          </a:prstGeom>
          <a:solidFill>
            <a:srgbClr val="E8685A"/>
          </a:solidFill>
          <a:ln cap="flat" cmpd="sng" w="12700">
            <a:solidFill>
              <a:srgbClr val="E868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0"/>
          <p:cNvSpPr txBox="1"/>
          <p:nvPr/>
        </p:nvSpPr>
        <p:spPr>
          <a:xfrm>
            <a:off x="5696712" y="246888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 txBox="1"/>
          <p:nvPr/>
        </p:nvSpPr>
        <p:spPr>
          <a:xfrm>
            <a:off x="4443984" y="3383280"/>
            <a:ext cx="323697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0A37F"/>
                </a:solidFill>
                <a:latin typeface="Calibri"/>
                <a:ea typeface="Calibri"/>
                <a:cs typeface="Calibri"/>
                <a:sym typeface="Calibri"/>
              </a:rPr>
              <a:t>Las TPU son de Google: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0A37F"/>
                </a:solidFill>
                <a:latin typeface="Calibri"/>
                <a:ea typeface="Calibri"/>
                <a:cs typeface="Calibri"/>
                <a:sym typeface="Calibri"/>
              </a:rPr>
              <a:t>ChatGPT usa GPUs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0"/>
          <p:cNvSpPr/>
          <p:nvPr/>
        </p:nvSpPr>
        <p:spPr>
          <a:xfrm>
            <a:off x="8065008" y="1280160"/>
            <a:ext cx="3602736" cy="3383280"/>
          </a:xfrm>
          <a:prstGeom prst="roundRect">
            <a:avLst>
              <a:gd fmla="val 2162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0"/>
          <p:cNvSpPr txBox="1"/>
          <p:nvPr/>
        </p:nvSpPr>
        <p:spPr>
          <a:xfrm>
            <a:off x="8247888" y="1554480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“¿Cuántas GPUs?”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9500616" y="2468880"/>
            <a:ext cx="731520" cy="731520"/>
          </a:xfrm>
          <a:prstGeom prst="ellipse">
            <a:avLst/>
          </a:prstGeom>
          <a:solidFill>
            <a:srgbClr val="E8685A"/>
          </a:solidFill>
          <a:ln cap="flat" cmpd="sng" w="12700">
            <a:solidFill>
              <a:srgbClr val="E868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0"/>
          <p:cNvSpPr txBox="1"/>
          <p:nvPr/>
        </p:nvSpPr>
        <p:spPr>
          <a:xfrm>
            <a:off x="9500616" y="246888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0"/>
          <p:cNvSpPr txBox="1"/>
          <p:nvPr/>
        </p:nvSpPr>
        <p:spPr>
          <a:xfrm>
            <a:off x="8247888" y="3383280"/>
            <a:ext cx="323697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0A37F"/>
                </a:solidFill>
                <a:latin typeface="Calibri"/>
                <a:ea typeface="Calibri"/>
                <a:cs typeface="Calibri"/>
                <a:sym typeface="Calibri"/>
              </a:rPr>
              <a:t>Cifras distintas cada vez: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0A37F"/>
                </a:solidFill>
                <a:latin typeface="Calibri"/>
                <a:ea typeface="Calibri"/>
                <a:cs typeface="Calibri"/>
                <a:sym typeface="Calibri"/>
              </a:rPr>
              <a:t>no se autoconsulta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457200" y="4937760"/>
            <a:ext cx="11274552" cy="1188720"/>
          </a:xfrm>
          <a:prstGeom prst="roundRect">
            <a:avLst>
              <a:gd fmla="val 6154" name="adj"/>
            </a:avLst>
          </a:prstGeom>
          <a:solidFill>
            <a:srgbClr val="17402F"/>
          </a:solidFill>
          <a:ln cap="flat" cmpd="sng" w="1905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0"/>
          <p:cNvSpPr txBox="1"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A37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10A37F"/>
                </a:solidFill>
                <a:latin typeface="Arial"/>
                <a:ea typeface="Arial"/>
                <a:cs typeface="Arial"/>
                <a:sym typeface="Arial"/>
              </a:rPr>
              <a:t>Un LLM no se autoconsulta: predice texto plausible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0"/>
          <p:cNvSpPr txBox="1"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Por eso hay que contrastar siempre con documentación externa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9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628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1"/>
          <p:cNvSpPr/>
          <p:nvPr/>
        </p:nvSpPr>
        <p:spPr>
          <a:xfrm>
            <a:off x="457200" y="384048"/>
            <a:ext cx="146304" cy="475488"/>
          </a:xfrm>
          <a:prstGeom prst="roundRect">
            <a:avLst>
              <a:gd fmla="val 37500" name="adj"/>
            </a:avLst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1"/>
          <p:cNvSpPr txBox="1"/>
          <p:nvPr/>
        </p:nvSpPr>
        <p:spPr>
          <a:xfrm>
            <a:off x="731520" y="310896"/>
            <a:ext cx="1088136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Fuentes consultadas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457200" y="1371600"/>
            <a:ext cx="3602736" cy="1828800"/>
          </a:xfrm>
          <a:prstGeom prst="roundRect">
            <a:avLst>
              <a:gd fmla="val 4000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2029968" y="1645920"/>
            <a:ext cx="457200" cy="457200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1"/>
          <p:cNvSpPr txBox="1"/>
          <p:nvPr/>
        </p:nvSpPr>
        <p:spPr>
          <a:xfrm>
            <a:off x="640080" y="2240280"/>
            <a:ext cx="32369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OpenAI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 txBox="1"/>
          <p:nvPr/>
        </p:nvSpPr>
        <p:spPr>
          <a:xfrm>
            <a:off x="640080" y="2670048"/>
            <a:ext cx="32369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platform.openai.com/docs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4261104" y="1371600"/>
            <a:ext cx="3602736" cy="1828800"/>
          </a:xfrm>
          <a:prstGeom prst="roundRect">
            <a:avLst>
              <a:gd fmla="val 4000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5833872" y="1645920"/>
            <a:ext cx="457200" cy="457200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1"/>
          <p:cNvSpPr txBox="1"/>
          <p:nvPr/>
        </p:nvSpPr>
        <p:spPr>
          <a:xfrm>
            <a:off x="4443984" y="2240280"/>
            <a:ext cx="32369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      ChatGPT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 txBox="1"/>
          <p:nvPr/>
        </p:nvSpPr>
        <p:spPr>
          <a:xfrm>
            <a:off x="4443984" y="2670048"/>
            <a:ext cx="32369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https://chatgpt.com/es-ES/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8065008" y="1371600"/>
            <a:ext cx="3602736" cy="1828800"/>
          </a:xfrm>
          <a:prstGeom prst="roundRect">
            <a:avLst>
              <a:gd fmla="val 4000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9637776" y="1645920"/>
            <a:ext cx="457200" cy="457200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1"/>
          <p:cNvSpPr txBox="1"/>
          <p:nvPr/>
        </p:nvSpPr>
        <p:spPr>
          <a:xfrm>
            <a:off x="8247888" y="2240280"/>
            <a:ext cx="32369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Xataka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 txBox="1"/>
          <p:nvPr/>
        </p:nvSpPr>
        <p:spPr>
          <a:xfrm>
            <a:off x="8247888" y="2670048"/>
            <a:ext cx="32369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https://www.xataka.com/basics/chatgpt-que-como-usarlo-que-puedes-hacer-este-chat-inteligencia-artificial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457200" y="3520440"/>
            <a:ext cx="3602736" cy="1828800"/>
          </a:xfrm>
          <a:prstGeom prst="roundRect">
            <a:avLst>
              <a:gd fmla="val 4000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2029968" y="3794760"/>
            <a:ext cx="457200" cy="457200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1"/>
          <p:cNvSpPr txBox="1"/>
          <p:nvPr/>
        </p:nvSpPr>
        <p:spPr>
          <a:xfrm>
            <a:off x="640080" y="4389120"/>
            <a:ext cx="32369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 txBox="1"/>
          <p:nvPr/>
        </p:nvSpPr>
        <p:spPr>
          <a:xfrm>
            <a:off x="640080" y="4818888"/>
            <a:ext cx="32369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https://programacionymas.com/blog/como-funcionan-los-LLM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8065029" y="3441315"/>
            <a:ext cx="3602700" cy="1828800"/>
          </a:xfrm>
          <a:prstGeom prst="roundRect">
            <a:avLst>
              <a:gd fmla="val 4000" name="adj"/>
            </a:avLst>
          </a:prstGeom>
          <a:solidFill>
            <a:srgbClr val="1B2540"/>
          </a:solidFill>
          <a:ln cap="flat" cmpd="sng" w="12700">
            <a:solidFill>
              <a:srgbClr val="2733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9637772" y="3781060"/>
            <a:ext cx="457200" cy="457200"/>
          </a:xfrm>
          <a:prstGeom prst="ellipse">
            <a:avLst/>
          </a:prstGeom>
          <a:solidFill>
            <a:srgbClr val="10A37F"/>
          </a:solidFill>
          <a:ln cap="flat" cmpd="sng" w="12700">
            <a:solidFill>
              <a:srgbClr val="10A3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1"/>
          <p:cNvSpPr txBox="1"/>
          <p:nvPr/>
        </p:nvSpPr>
        <p:spPr>
          <a:xfrm>
            <a:off x="8247884" y="4277095"/>
            <a:ext cx="3237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 boot camps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 txBox="1"/>
          <p:nvPr/>
        </p:nvSpPr>
        <p:spPr>
          <a:xfrm>
            <a:off x="8247872" y="4773138"/>
            <a:ext cx="3237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9B4CC"/>
                </a:solidFill>
                <a:latin typeface="Calibri"/>
                <a:ea typeface="Calibri"/>
                <a:cs typeface="Calibri"/>
                <a:sym typeface="Calibri"/>
              </a:rPr>
              <a:t>https://iddigitalschool.com/bootcamps/que-es-un-llm-asi-funciona-la-tecnologia-detras-de-chatgpt/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 txBox="1"/>
          <p:nvPr/>
        </p:nvSpPr>
        <p:spPr>
          <a:xfrm>
            <a:off x="8954988" y="4773138"/>
            <a:ext cx="3237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4CC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5" name="Google Shape;3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2925" y="3471525"/>
            <a:ext cx="3141950" cy="2292401"/>
          </a:xfrm>
          <a:prstGeom prst="rect">
            <a:avLst/>
          </a:prstGeom>
          <a:noFill/>
          <a:ln>
            <a:noFill/>
          </a:ln>
          <a:effectLst>
            <a:reflection blurRad="0" dir="0" dist="0" endA="0" endPos="45000" fadeDir="5400012" kx="0" rotWithShape="0" algn="bl" stPos="0" sy="-100000" ky="0"/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3000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3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0"/>
                            </p:stCondLst>
                            <p:childTnLst>
                              <p:par>
                                <p:cTn fill="hold" nodeType="after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